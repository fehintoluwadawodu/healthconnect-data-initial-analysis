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2" r:id="rId5"/>
    <p:sldId id="266" r:id="rId6"/>
    <p:sldId id="259" r:id="rId7"/>
    <p:sldId id="260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308"/>
    <a:srgbClr val="0636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9434-7028-44D6-9F42-0DBC0497A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0DF41-EFEF-4505-84EF-26B1D9965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F2C35-F811-4A27-B042-9E2FF868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BF78-987E-4487-AC57-8E4D1EE6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C8C6-66CE-45D3-8894-BC7ED21F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8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C47B-38DC-46C4-A5D3-9C0A43CB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C543-F975-4051-A6E2-56E2FCA84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206F1-7398-48CE-BBA9-CD571970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3077-0BC3-4F9F-BBA0-E8DF65FA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588EE-A67C-4D9A-B56F-01E2F460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6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5609-BA8B-4D5F-9A6B-E506AD5F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5BA4B-A1D4-419A-92D2-113E6B19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732A-EB88-4F66-999D-72404456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9248-3747-411F-9CE5-54364D33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B2C10-2C61-4690-90FC-BD73729F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0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AE6-8AEB-4AD8-A762-DB23D351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A1D6-9601-4B38-BDA9-C067F7E3B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12A7C-3BAD-49F0-A6BF-59FC93DA1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8CC71-279B-45D3-801F-D5BB6A41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7B082-884E-411F-975A-F3F5AD6F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EE7AE-0429-42FA-BF8B-66E96D1C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4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A6BD-B6B9-43B4-B562-E3F7C335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25E1-E66F-4C71-97C8-5EBE1AA9B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BD4DE-DF2D-440D-BC84-6B969D83C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9C99A-34D9-4437-ADFA-76D21C7DC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B886D-24EE-4A4F-9956-39B713CDE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EB773C-D59C-47FA-A5C5-C71D133B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163A8-0957-41B8-A62B-8491B845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082C7-DBF2-4743-A318-F6804B5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1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340C-D9EE-4985-B9ED-86C26436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19606-6A6D-4661-BB31-6CA8F330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2BC4A-EB3F-4A1E-8DC1-15B0ED2B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DC1B1-EB97-4C34-BC58-76852BEC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D5381-F1D0-47D2-8C2D-B0D77704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AE2C6-9AB1-4ACD-A26B-BAF700FF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C083B-B23F-4DE4-9831-5DE9310C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5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43D4-521C-456A-8040-3095C855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8552-2EF6-45AD-A351-98D02A836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46686-09C6-4F82-B8AF-8E2350E8D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06218-F219-4180-A089-416272AB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69396-C701-4AD4-B8F1-A00C138C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96616-DA04-4213-BB31-48903A8D0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7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A3CB-60DC-4DC6-8D2C-55B227ED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1A5F2-4557-4528-9240-4717EF04D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05329-1A0E-4ACD-995E-4E653A82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35E15-8711-4DDA-AC87-F38E7DBA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D0FF0-A80A-41C7-A4FE-B75F30EE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976C6-EE83-48B2-A385-FC35DA57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1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0FED-A06D-4616-83BB-136BEDE0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7CBE8-3765-4E16-B2D1-25C66108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CD3EB-AE42-46C3-B412-FCEF6D0D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7356-4822-4ACE-BDBE-658B75ED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F5000-9FF8-4C48-817C-6483E543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6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492B1-96D3-49F1-8E68-C5C88BE1A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BC6C0-9D72-4795-8689-2EE3051C4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86B1-310F-440E-A338-A141A8F4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34C5-628A-4C46-9B89-5B2A3B31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D11D6-23F5-404B-A987-A51FA306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7BE01-8B1A-41DB-ABCA-2D639296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EFAA6-2121-444E-8286-068918D0B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E345-4BBC-4B17-8BFC-1717F8578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FD700-6F38-49C7-9668-1E2BA227727A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18B9F-73C7-4661-BED2-9825F2D59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F62B6-83DA-43EC-AB91-80977B977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A6C00-FBB5-4456-955D-398C6AD52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0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B3B5B3-B7C1-4176-AC50-1C6E566D2F2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EDC3F4-1C33-4DBE-BF60-5B8127A92252}"/>
              </a:ext>
            </a:extLst>
          </p:cNvPr>
          <p:cNvSpPr txBox="1"/>
          <p:nvPr/>
        </p:nvSpPr>
        <p:spPr>
          <a:xfrm>
            <a:off x="658368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HEALTHCONNECT CLINIC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532DC-408C-49B5-8CA5-CB38C3D9469B}"/>
              </a:ext>
            </a:extLst>
          </p:cNvPr>
          <p:cNvSpPr txBox="1"/>
          <p:nvPr/>
        </p:nvSpPr>
        <p:spPr>
          <a:xfrm>
            <a:off x="658368" y="1508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WEEK 5
PROJECT 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FA667-CAB9-4D12-B29D-E8B2ADE63910}"/>
              </a:ext>
            </a:extLst>
          </p:cNvPr>
          <p:cNvSpPr txBox="1"/>
          <p:nvPr/>
        </p:nvSpPr>
        <p:spPr>
          <a:xfrm>
            <a:off x="685800" y="2880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91E0"/>
                </a:solidFill>
                <a:latin typeface="Aptos"/>
              </a:rPr>
              <a:t>Data Analytics Track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52A2E-6845-43EE-861C-30224185FA11}"/>
              </a:ext>
            </a:extLst>
          </p:cNvPr>
          <p:cNvSpPr txBox="1"/>
          <p:nvPr/>
        </p:nvSpPr>
        <p:spPr>
          <a:xfrm>
            <a:off x="685800" y="34015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EC8"/>
                </a:solidFill>
                <a:latin typeface="Aptos"/>
              </a:rPr>
              <a:t>Exploratory Analysis • KPI Development • Business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9D8C0E-2E51-4A0C-94BA-DD692097E2C2}"/>
              </a:ext>
            </a:extLst>
          </p:cNvPr>
          <p:cNvSpPr txBox="1"/>
          <p:nvPr/>
        </p:nvSpPr>
        <p:spPr>
          <a:xfrm>
            <a:off x="685800" y="4617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EC8"/>
                </a:solidFill>
                <a:latin typeface="Aptos"/>
              </a:rPr>
              <a:t>Prepared by: Dawodu Fehintoluwa Bukola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94C1EC-1C70-42E0-B25B-70ADE6208444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8"/>
                </a:solidFill>
                <a:latin typeface="Aptos"/>
              </a:rPr>
              <a:t>HealthConnect | Week 5 Project Summary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4CCB87-E739-4E78-9891-1E386B1B7207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3185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4F6B91A-2C29-476B-8AA0-D5FA062E59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E6A7D5-2400-4B16-8B34-49D515EA8971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01  Week 5 Objective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B961C8-D19B-48DA-88F2-8B9E98502580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Moving from initial data understanding to actual analysis</a:t>
            </a:r>
          </a:p>
        </p:txBody>
      </p:sp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6937A8E0-06F0-4952-A163-ECCDB6CB1602}"/>
              </a:ext>
            </a:extLst>
          </p:cNvPr>
          <p:cNvSpPr/>
          <p:nvPr/>
        </p:nvSpPr>
        <p:spPr>
          <a:xfrm>
            <a:off x="685800" y="1417320"/>
            <a:ext cx="5394960" cy="44805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7A8B58-4AF2-472F-BF2A-9FBF9480F3ED}"/>
              </a:ext>
            </a:extLst>
          </p:cNvPr>
          <p:cNvSpPr txBox="1"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2B1A6"/>
                </a:solidFill>
                <a:latin typeface="Aptos"/>
              </a:rPr>
              <a:t>What was addressed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86213E-3D18-4424-94BE-FEA10181F496}"/>
              </a:ext>
            </a:extLst>
          </p:cNvPr>
          <p:cNvSpPr txBox="1"/>
          <p:nvPr/>
        </p:nvSpPr>
        <p:spPr>
          <a:xfrm>
            <a:off x="914400" y="219456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>
                <a:solidFill>
                  <a:srgbClr val="2B91E0"/>
                </a:solidFill>
              </a:rPr>
              <a:t>• </a:t>
            </a:r>
            <a:r>
              <a:rPr sz="1300" dirty="0">
                <a:solidFill>
                  <a:srgbClr val="F8FAFC"/>
                </a:solidFill>
                <a:latin typeface="Aptos"/>
              </a:rPr>
              <a:t>Data preparation and quality checks.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2B91E0"/>
                </a:solidFill>
              </a:rPr>
              <a:t>• </a:t>
            </a:r>
            <a:r>
              <a:rPr sz="1300" dirty="0">
                <a:solidFill>
                  <a:srgbClr val="F8FAFC"/>
                </a:solidFill>
                <a:latin typeface="Aptos"/>
              </a:rPr>
              <a:t>Exploratory analysis of attendance, no-shows and cancellations.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2B91E0"/>
                </a:solidFill>
              </a:rPr>
              <a:t>• </a:t>
            </a:r>
            <a:r>
              <a:rPr sz="1300" dirty="0">
                <a:solidFill>
                  <a:srgbClr val="F8FAFC"/>
                </a:solidFill>
                <a:latin typeface="Aptos"/>
              </a:rPr>
              <a:t>KPI development and calculation.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2B91E0"/>
                </a:solidFill>
              </a:rPr>
              <a:t>• </a:t>
            </a:r>
            <a:r>
              <a:rPr sz="1300" dirty="0">
                <a:solidFill>
                  <a:srgbClr val="F8FAFC"/>
                </a:solidFill>
                <a:latin typeface="Aptos"/>
              </a:rPr>
              <a:t>Identification of factors associated with missed appointments.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2B91E0"/>
                </a:solidFill>
              </a:rPr>
              <a:t>• </a:t>
            </a:r>
            <a:r>
              <a:rPr sz="1300" dirty="0">
                <a:solidFill>
                  <a:srgbClr val="F8FAFC"/>
                </a:solidFill>
                <a:latin typeface="Aptos"/>
              </a:rPr>
              <a:t>Initial Power BI analytical </a:t>
            </a:r>
            <a:r>
              <a:rPr sz="1300" dirty="0" err="1">
                <a:solidFill>
                  <a:srgbClr val="F8FAFC"/>
                </a:solidFill>
                <a:latin typeface="Aptos"/>
              </a:rPr>
              <a:t>visualisation</a:t>
            </a:r>
            <a:r>
              <a:rPr sz="1300" dirty="0">
                <a:solidFill>
                  <a:srgbClr val="F8FAFC"/>
                </a:solidFill>
                <a:latin typeface="Aptos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2B91E0"/>
                </a:solidFill>
              </a:rPr>
              <a:t>• </a:t>
            </a:r>
            <a:r>
              <a:rPr sz="1300" dirty="0">
                <a:solidFill>
                  <a:srgbClr val="F8FAFC"/>
                </a:solidFill>
                <a:latin typeface="Aptos"/>
              </a:rPr>
              <a:t>Business insights to guide potential actions.</a:t>
            </a:r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1520AE6F-AB2D-4227-9E92-85DC974EBA2A}"/>
              </a:ext>
            </a:extLst>
          </p:cNvPr>
          <p:cNvSpPr/>
          <p:nvPr/>
        </p:nvSpPr>
        <p:spPr>
          <a:xfrm>
            <a:off x="6355080" y="1417320"/>
            <a:ext cx="5166360" cy="44805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095E70-4BCD-4D5B-A826-A1010372C1F5}"/>
              </a:ext>
            </a:extLst>
          </p:cNvPr>
          <p:cNvSpPr txBox="1"/>
          <p:nvPr/>
        </p:nvSpPr>
        <p:spPr>
          <a:xfrm>
            <a:off x="6601968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9139"/>
                </a:solidFill>
                <a:latin typeface="Aptos"/>
              </a:rPr>
              <a:t>Key analytical principle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340E6E-C502-4FD7-B485-15A1DF96ABE2}"/>
              </a:ext>
            </a:extLst>
          </p:cNvPr>
          <p:cNvSpPr txBox="1"/>
          <p:nvPr/>
        </p:nvSpPr>
        <p:spPr>
          <a:xfrm>
            <a:off x="6629400" y="233172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The analysis identifies
patterns and associations.
It does not assume that
an observed relationship
proves causation.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3641F9-E23F-413A-BA4C-1F91126F0969}"/>
              </a:ext>
            </a:extLst>
          </p:cNvPr>
          <p:cNvSpPr txBox="1"/>
          <p:nvPr/>
        </p:nvSpPr>
        <p:spPr>
          <a:xfrm>
            <a:off x="6629400" y="425196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Key question:
What factors are associated with patients attending, cancelling or missing appointments?</a:t>
            </a:r>
          </a:p>
        </p:txBody>
      </p:sp>
    </p:spTree>
    <p:extLst>
      <p:ext uri="{BB962C8B-B14F-4D97-AF65-F5344CB8AC3E}">
        <p14:creationId xmlns:p14="http://schemas.microsoft.com/office/powerpoint/2010/main" val="203672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8F6127E-DA4A-4ED0-A30A-2DA126347EC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2F9CFB-892E-4A62-9D6A-C679EA26003B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02  Data Preparation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E493B-B239-457D-8611-FF7FDCBB637C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Summary of the Week 5 data-quality work</a:t>
            </a:r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56A1EC0C-9F43-42F8-8A64-512EF7F69A12}"/>
              </a:ext>
            </a:extLst>
          </p:cNvPr>
          <p:cNvSpPr/>
          <p:nvPr/>
        </p:nvSpPr>
        <p:spPr>
          <a:xfrm>
            <a:off x="685800" y="141732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5A610E-AA45-466B-8937-7ACA73376BA9}"/>
              </a:ext>
            </a:extLst>
          </p:cNvPr>
          <p:cNvSpPr txBox="1"/>
          <p:nvPr/>
        </p:nvSpPr>
        <p:spPr>
          <a:xfrm>
            <a:off x="886968" y="1581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91E0"/>
                </a:solidFill>
                <a:latin typeface="Aptos"/>
              </a:rPr>
              <a:t>DATA TYPES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F1872B-2F1B-4F46-A755-D88C7183A57B}"/>
              </a:ext>
            </a:extLst>
          </p:cNvPr>
          <p:cNvSpPr txBox="1"/>
          <p:nvPr/>
        </p:nvSpPr>
        <p:spPr>
          <a:xfrm>
            <a:off x="886968" y="19476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Variables were reviewed and data types were checked.</a:t>
            </a:r>
          </a:p>
        </p:txBody>
      </p:sp>
      <p:sp>
        <p:nvSpPr>
          <p:cNvPr id="48" name="Rounded Rectangle 7">
            <a:extLst>
              <a:ext uri="{FF2B5EF4-FFF2-40B4-BE49-F238E27FC236}">
                <a16:creationId xmlns:a16="http://schemas.microsoft.com/office/drawing/2014/main" id="{13323A50-E86D-4E79-B8D2-8106DFCDC1C1}"/>
              </a:ext>
            </a:extLst>
          </p:cNvPr>
          <p:cNvSpPr/>
          <p:nvPr/>
        </p:nvSpPr>
        <p:spPr>
          <a:xfrm>
            <a:off x="6309360" y="141732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54CA8D-F55A-496B-80CD-31DB4442C4F0}"/>
              </a:ext>
            </a:extLst>
          </p:cNvPr>
          <p:cNvSpPr txBox="1"/>
          <p:nvPr/>
        </p:nvSpPr>
        <p:spPr>
          <a:xfrm>
            <a:off x="6510528" y="1581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B1A6"/>
                </a:solidFill>
                <a:latin typeface="Aptos"/>
              </a:rPr>
              <a:t>DUPLICATES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49814E-3EC7-41C2-97D9-7677B2D8F02D}"/>
              </a:ext>
            </a:extLst>
          </p:cNvPr>
          <p:cNvSpPr txBox="1"/>
          <p:nvPr/>
        </p:nvSpPr>
        <p:spPr>
          <a:xfrm>
            <a:off x="6510528" y="19476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No duplicate records were identified; appointment IDs were unique.</a:t>
            </a: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3D2213DF-170A-4D06-9606-CA82CAC13AD5}"/>
              </a:ext>
            </a:extLst>
          </p:cNvPr>
          <p:cNvSpPr/>
          <p:nvPr/>
        </p:nvSpPr>
        <p:spPr>
          <a:xfrm>
            <a:off x="685800" y="297180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E85AF2-A2FB-4B01-8B48-4992003A3ECA}"/>
              </a:ext>
            </a:extLst>
          </p:cNvPr>
          <p:cNvSpPr txBox="1"/>
          <p:nvPr/>
        </p:nvSpPr>
        <p:spPr>
          <a:xfrm>
            <a:off x="886968" y="3136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9139"/>
                </a:solidFill>
                <a:latin typeface="Aptos"/>
              </a:rPr>
              <a:t>MISSING VALUES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582453-5DB7-4EBF-B159-33E3579C2DFA}"/>
              </a:ext>
            </a:extLst>
          </p:cNvPr>
          <p:cNvSpPr txBox="1"/>
          <p:nvPr/>
        </p:nvSpPr>
        <p:spPr>
          <a:xfrm>
            <a:off x="886968" y="35021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Distance to Clinic: 90 records. Waiting Time: 60 records.</a:t>
            </a:r>
          </a:p>
        </p:txBody>
      </p:sp>
      <p:sp>
        <p:nvSpPr>
          <p:cNvPr id="54" name="Rounded Rectangle 13">
            <a:extLst>
              <a:ext uri="{FF2B5EF4-FFF2-40B4-BE49-F238E27FC236}">
                <a16:creationId xmlns:a16="http://schemas.microsoft.com/office/drawing/2014/main" id="{4D46DBFC-4DB3-4188-BEEE-D231D7ACC116}"/>
              </a:ext>
            </a:extLst>
          </p:cNvPr>
          <p:cNvSpPr/>
          <p:nvPr/>
        </p:nvSpPr>
        <p:spPr>
          <a:xfrm>
            <a:off x="6309360" y="297180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CB6C8B-CDED-42DE-94C9-6B9768062AE1}"/>
              </a:ext>
            </a:extLst>
          </p:cNvPr>
          <p:cNvSpPr txBox="1"/>
          <p:nvPr/>
        </p:nvSpPr>
        <p:spPr>
          <a:xfrm>
            <a:off x="6510528" y="3136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91E0"/>
                </a:solidFill>
                <a:latin typeface="Aptos"/>
              </a:rPr>
              <a:t>INCONSISTENCIES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4F4FC8-F6AA-4311-BF9D-2F44D1D5BAD6}"/>
              </a:ext>
            </a:extLst>
          </p:cNvPr>
          <p:cNvSpPr txBox="1"/>
          <p:nvPr/>
        </p:nvSpPr>
        <p:spPr>
          <a:xfrm>
            <a:off x="6510528" y="35021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No specific inconsistent values were identified in the documented checks.</a:t>
            </a:r>
          </a:p>
        </p:txBody>
      </p:sp>
      <p:sp>
        <p:nvSpPr>
          <p:cNvPr id="57" name="Rounded Rectangle 16">
            <a:extLst>
              <a:ext uri="{FF2B5EF4-FFF2-40B4-BE49-F238E27FC236}">
                <a16:creationId xmlns:a16="http://schemas.microsoft.com/office/drawing/2014/main" id="{CE0802FB-73B7-4346-943F-DEA7A7391E75}"/>
              </a:ext>
            </a:extLst>
          </p:cNvPr>
          <p:cNvSpPr/>
          <p:nvPr/>
        </p:nvSpPr>
        <p:spPr>
          <a:xfrm>
            <a:off x="685800" y="452628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D5B55C-6903-445E-BDFF-6685AC5097D8}"/>
              </a:ext>
            </a:extLst>
          </p:cNvPr>
          <p:cNvSpPr txBox="1"/>
          <p:nvPr/>
        </p:nvSpPr>
        <p:spPr>
          <a:xfrm>
            <a:off x="886968" y="4690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B1A6"/>
                </a:solidFill>
                <a:latin typeface="Aptos"/>
              </a:rPr>
              <a:t>ORIGINAL DATA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C86073-D891-4BD4-90D7-D1A8776DCC36}"/>
              </a:ext>
            </a:extLst>
          </p:cNvPr>
          <p:cNvSpPr txBox="1"/>
          <p:nvPr/>
        </p:nvSpPr>
        <p:spPr>
          <a:xfrm>
            <a:off x="886968" y="50566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The original dataset was retained and not overwritten.</a:t>
            </a:r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6397821B-F396-4B93-86D9-173BAC84C1CC}"/>
              </a:ext>
            </a:extLst>
          </p:cNvPr>
          <p:cNvSpPr/>
          <p:nvPr/>
        </p:nvSpPr>
        <p:spPr>
          <a:xfrm>
            <a:off x="6309360" y="452628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795983-66D1-4E47-B5CF-3AA0305A7DE3}"/>
              </a:ext>
            </a:extLst>
          </p:cNvPr>
          <p:cNvSpPr txBox="1"/>
          <p:nvPr/>
        </p:nvSpPr>
        <p:spPr>
          <a:xfrm>
            <a:off x="6510528" y="4690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9139"/>
                </a:solidFill>
                <a:latin typeface="Aptos"/>
              </a:rPr>
              <a:t>IMPLICATION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1343BB-7CB8-40DF-B7FD-ADDBF87D5CD0}"/>
              </a:ext>
            </a:extLst>
          </p:cNvPr>
          <p:cNvSpPr txBox="1"/>
          <p:nvPr/>
        </p:nvSpPr>
        <p:spPr>
          <a:xfrm>
            <a:off x="6510528" y="50566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Distance and waiting-time analyses require documented treatment of missing observations.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F27BFD-B823-4B1C-A1B9-E22C7FFD6923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8"/>
                </a:solidFill>
                <a:latin typeface="Aptos"/>
              </a:rPr>
              <a:t>HealthConnect | Week 5 Project Summary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62725D-5E77-413A-B577-4C048D62D025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907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D474ED-07C0-45E3-9BC8-84B4C135AD5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3DB134-36C7-4F4A-AB78-EAB56578BB15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03  Exploratory Data Analysis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A3B1EA-D37E-4A40-9B77-8E566922E169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Patterns investigated in the appointment data</a:t>
            </a:r>
          </a:p>
        </p:txBody>
      </p:sp>
      <p:sp>
        <p:nvSpPr>
          <p:cNvPr id="43" name="Rounded Rectangle 4">
            <a:extLst>
              <a:ext uri="{FF2B5EF4-FFF2-40B4-BE49-F238E27FC236}">
                <a16:creationId xmlns:a16="http://schemas.microsoft.com/office/drawing/2014/main" id="{2D47F6AD-3669-4024-BD63-5252A7009F81}"/>
              </a:ext>
            </a:extLst>
          </p:cNvPr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925E08-7650-4EBE-9E74-0BD8AF4E1F14}"/>
              </a:ext>
            </a:extLst>
          </p:cNvPr>
          <p:cNvSpPr txBox="1"/>
          <p:nvPr/>
        </p:nvSpPr>
        <p:spPr>
          <a:xfrm>
            <a:off x="841247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Appointment characteristics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509BE3-0309-46BB-A0A5-4BDF6DDF2281}"/>
              </a:ext>
            </a:extLst>
          </p:cNvPr>
          <p:cNvSpPr txBox="1"/>
          <p:nvPr/>
        </p:nvSpPr>
        <p:spPr>
          <a:xfrm>
            <a:off x="841247" y="207568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Appointment type • Appointment day • Cancellations</a:t>
            </a:r>
          </a:p>
        </p:txBody>
      </p:sp>
      <p:sp>
        <p:nvSpPr>
          <p:cNvPr id="46" name="Rounded Rectangle 7">
            <a:extLst>
              <a:ext uri="{FF2B5EF4-FFF2-40B4-BE49-F238E27FC236}">
                <a16:creationId xmlns:a16="http://schemas.microsoft.com/office/drawing/2014/main" id="{F3C8D7E4-65ED-4B6E-A5F9-34ADBD1735A8}"/>
              </a:ext>
            </a:extLst>
          </p:cNvPr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71F9F3-E428-44DC-85BC-EB0F48627DC8}"/>
              </a:ext>
            </a:extLst>
          </p:cNvPr>
          <p:cNvSpPr txBox="1"/>
          <p:nvPr/>
        </p:nvSpPr>
        <p:spPr>
          <a:xfrm>
            <a:off x="4636008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Patient characteristics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5853D9-563D-43E3-B87F-8FF9385F6758}"/>
              </a:ext>
            </a:extLst>
          </p:cNvPr>
          <p:cNvSpPr txBox="1"/>
          <p:nvPr/>
        </p:nvSpPr>
        <p:spPr>
          <a:xfrm>
            <a:off x="4636008" y="207568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Age group • Gender</a:t>
            </a: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B7C3B955-F941-4CC3-A22C-757FBFC9B365}"/>
              </a:ext>
            </a:extLst>
          </p:cNvPr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679E27-7E80-427F-88F5-8A0DB643FAB1}"/>
              </a:ext>
            </a:extLst>
          </p:cNvPr>
          <p:cNvSpPr txBox="1"/>
          <p:nvPr/>
        </p:nvSpPr>
        <p:spPr>
          <a:xfrm>
            <a:off x="8430768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Previous history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D803F2-6AB2-44C6-AC5E-C3ACCA61B667}"/>
              </a:ext>
            </a:extLst>
          </p:cNvPr>
          <p:cNvSpPr txBox="1"/>
          <p:nvPr/>
        </p:nvSpPr>
        <p:spPr>
          <a:xfrm>
            <a:off x="8430768" y="207568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Previous no-shows vs current outcome</a:t>
            </a:r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BF49D05E-4886-4120-A05B-0C4E5DB17D42}"/>
              </a:ext>
            </a:extLst>
          </p:cNvPr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A9CE9-EA2B-4B2E-AEFF-7C8151568DE5}"/>
              </a:ext>
            </a:extLst>
          </p:cNvPr>
          <p:cNvSpPr txBox="1"/>
          <p:nvPr/>
        </p:nvSpPr>
        <p:spPr>
          <a:xfrm>
            <a:off x="841247" y="37033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Reminders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755881-6EAC-434F-A3C2-32B9283C9A19}"/>
              </a:ext>
            </a:extLst>
          </p:cNvPr>
          <p:cNvSpPr txBox="1"/>
          <p:nvPr/>
        </p:nvSpPr>
        <p:spPr>
          <a:xfrm>
            <a:off x="841247" y="4133087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SMS • Email • WhatsApp • No Reminder</a:t>
            </a:r>
          </a:p>
        </p:txBody>
      </p:sp>
      <p:sp>
        <p:nvSpPr>
          <p:cNvPr id="55" name="Rounded Rectangle 16">
            <a:extLst>
              <a:ext uri="{FF2B5EF4-FFF2-40B4-BE49-F238E27FC236}">
                <a16:creationId xmlns:a16="http://schemas.microsoft.com/office/drawing/2014/main" id="{47B1593F-489B-4673-8341-7C2B5FB7FC3F}"/>
              </a:ext>
            </a:extLst>
          </p:cNvPr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34FE43-0ACF-40F6-9BAF-EA87E56A1BBE}"/>
              </a:ext>
            </a:extLst>
          </p:cNvPr>
          <p:cNvSpPr txBox="1"/>
          <p:nvPr/>
        </p:nvSpPr>
        <p:spPr>
          <a:xfrm>
            <a:off x="4636008" y="37033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Operational factors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48BF53-A885-489B-9853-2E34687104DB}"/>
              </a:ext>
            </a:extLst>
          </p:cNvPr>
          <p:cNvSpPr txBox="1"/>
          <p:nvPr/>
        </p:nvSpPr>
        <p:spPr>
          <a:xfrm>
            <a:off x="4636008" y="4133087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Distance to Clinic • Waiting Time</a:t>
            </a:r>
          </a:p>
        </p:txBody>
      </p:sp>
      <p:sp>
        <p:nvSpPr>
          <p:cNvPr id="58" name="Rounded Rectangle 19">
            <a:extLst>
              <a:ext uri="{FF2B5EF4-FFF2-40B4-BE49-F238E27FC236}">
                <a16:creationId xmlns:a16="http://schemas.microsoft.com/office/drawing/2014/main" id="{CC8C910C-E710-4DAF-B08C-6E8147FEB1C9}"/>
              </a:ext>
            </a:extLst>
          </p:cNvPr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FABECF-68C5-403A-BCDF-A97029A2468A}"/>
              </a:ext>
            </a:extLst>
          </p:cNvPr>
          <p:cNvSpPr txBox="1"/>
          <p:nvPr/>
        </p:nvSpPr>
        <p:spPr>
          <a:xfrm>
            <a:off x="8430768" y="37033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B1A6"/>
                </a:solidFill>
                <a:latin typeface="Aptos"/>
              </a:rPr>
              <a:t>Outcomes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59CD62-E7B6-4135-8994-B43AB985121E}"/>
              </a:ext>
            </a:extLst>
          </p:cNvPr>
          <p:cNvSpPr txBox="1"/>
          <p:nvPr/>
        </p:nvSpPr>
        <p:spPr>
          <a:xfrm>
            <a:off x="8430768" y="4133087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Attended • No-Show • Cancelled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3B2686-167F-4058-8C5F-035EFB939A9E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8"/>
                </a:solidFill>
                <a:latin typeface="Aptos"/>
              </a:rPr>
              <a:t>HealthConnect | Week 5 Project Summary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59D1D7-EF51-46B0-8E4C-609CF3C9A411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10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729A2D6-B5D0-4314-99F4-5F9FE734823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04A358-1521-48F8-BFC6-AA4C911BD2C9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04  KPI Development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A01965-0B08-4908-BF88-AAA89C17A594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Selected KPIs from the Week 4 potential KPI list</a:t>
            </a:r>
          </a:p>
        </p:txBody>
      </p:sp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F76A8F8D-F50F-4401-B643-34BC0726549D}"/>
              </a:ext>
            </a:extLst>
          </p:cNvPr>
          <p:cNvSpPr/>
          <p:nvPr/>
        </p:nvSpPr>
        <p:spPr>
          <a:xfrm>
            <a:off x="594360" y="1417320"/>
            <a:ext cx="3520440" cy="452628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144191-EB5D-472D-889E-4B3252F0A197}"/>
              </a:ext>
            </a:extLst>
          </p:cNvPr>
          <p:cNvSpPr txBox="1"/>
          <p:nvPr/>
        </p:nvSpPr>
        <p:spPr>
          <a:xfrm>
            <a:off x="795528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B1A6"/>
                </a:solidFill>
                <a:latin typeface="Aptos"/>
              </a:rPr>
              <a:t>NO-SHOW RATE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CEA7B4-995B-4AF1-9A61-9AE2FE72CECA}"/>
              </a:ext>
            </a:extLst>
          </p:cNvPr>
          <p:cNvSpPr txBox="1"/>
          <p:nvPr/>
        </p:nvSpPr>
        <p:spPr>
          <a:xfrm>
            <a:off x="795528" y="212140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48.46%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BCF2E7-51A1-46F7-909D-CFE8E1E939EF}"/>
              </a:ext>
            </a:extLst>
          </p:cNvPr>
          <p:cNvSpPr txBox="1"/>
          <p:nvPr/>
        </p:nvSpPr>
        <p:spPr>
          <a:xfrm>
            <a:off x="795528" y="290779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EC8"/>
                </a:solidFill>
                <a:latin typeface="Aptos"/>
              </a:rPr>
              <a:t>No-show appointments ÷ total appointments × 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5FBCA3-A8D3-4C4D-A5A0-AAEAA34BACBF}"/>
              </a:ext>
            </a:extLst>
          </p:cNvPr>
          <p:cNvSpPr txBox="1"/>
          <p:nvPr/>
        </p:nvSpPr>
        <p:spPr>
          <a:xfrm>
            <a:off x="795528" y="397763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Why it matters:
Shows the scale of missed appointments.</a:t>
            </a:r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E0ECBD72-B45B-4766-A095-ED6A82E5B71E}"/>
              </a:ext>
            </a:extLst>
          </p:cNvPr>
          <p:cNvSpPr/>
          <p:nvPr/>
        </p:nvSpPr>
        <p:spPr>
          <a:xfrm>
            <a:off x="4434840" y="1417320"/>
            <a:ext cx="3520440" cy="452628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3CBA1-1AE2-4C2F-A3A9-35A22AFAE6AE}"/>
              </a:ext>
            </a:extLst>
          </p:cNvPr>
          <p:cNvSpPr txBox="1"/>
          <p:nvPr/>
        </p:nvSpPr>
        <p:spPr>
          <a:xfrm>
            <a:off x="4636008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B1A6"/>
                </a:solidFill>
                <a:latin typeface="Aptos"/>
              </a:rPr>
              <a:t>ATTENDANCE RATE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574DD0-A7C5-4AE9-B1C9-1B50C0ABC790}"/>
              </a:ext>
            </a:extLst>
          </p:cNvPr>
          <p:cNvSpPr txBox="1"/>
          <p:nvPr/>
        </p:nvSpPr>
        <p:spPr>
          <a:xfrm>
            <a:off x="4636008" y="212140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46.28%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860C1E-1F09-45FA-9AD2-7E23170AA237}"/>
              </a:ext>
            </a:extLst>
          </p:cNvPr>
          <p:cNvSpPr txBox="1"/>
          <p:nvPr/>
        </p:nvSpPr>
        <p:spPr>
          <a:xfrm>
            <a:off x="4636008" y="290779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EC8"/>
                </a:solidFill>
                <a:latin typeface="Aptos"/>
              </a:rPr>
              <a:t>Attended appointments ÷ total appointments × 100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754F37-C486-4740-B0F5-C68E257474EE}"/>
              </a:ext>
            </a:extLst>
          </p:cNvPr>
          <p:cNvSpPr txBox="1"/>
          <p:nvPr/>
        </p:nvSpPr>
        <p:spPr>
          <a:xfrm>
            <a:off x="4636008" y="397763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Why it matters:
Measures appointment compliance.</a:t>
            </a:r>
          </a:p>
        </p:txBody>
      </p: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7521A092-99E8-4E51-9A11-9672A3E55865}"/>
              </a:ext>
            </a:extLst>
          </p:cNvPr>
          <p:cNvSpPr/>
          <p:nvPr/>
        </p:nvSpPr>
        <p:spPr>
          <a:xfrm>
            <a:off x="8275320" y="1417320"/>
            <a:ext cx="3520440" cy="452628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907D20-CF36-4CC0-A51D-00D932D3CDE5}"/>
              </a:ext>
            </a:extLst>
          </p:cNvPr>
          <p:cNvSpPr txBox="1"/>
          <p:nvPr/>
        </p:nvSpPr>
        <p:spPr>
          <a:xfrm>
            <a:off x="8476488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B1A6"/>
                </a:solidFill>
                <a:latin typeface="Aptos"/>
              </a:rPr>
              <a:t>CANCELLATION RATE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6B1093-DB87-4353-9109-05A4CB0A72F0}"/>
              </a:ext>
            </a:extLst>
          </p:cNvPr>
          <p:cNvSpPr txBox="1"/>
          <p:nvPr/>
        </p:nvSpPr>
        <p:spPr>
          <a:xfrm>
            <a:off x="8476488" y="212140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5.26%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7C2DEA-9384-43DD-AC3B-C7FFF149FB63}"/>
              </a:ext>
            </a:extLst>
          </p:cNvPr>
          <p:cNvSpPr txBox="1"/>
          <p:nvPr/>
        </p:nvSpPr>
        <p:spPr>
          <a:xfrm>
            <a:off x="8476488" y="290779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BEC8"/>
                </a:solidFill>
                <a:latin typeface="Aptos"/>
              </a:rPr>
              <a:t>Cancelled appointments ÷ total appointments × 100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A50DBA-4121-4C3F-9578-4E9CA544BF20}"/>
              </a:ext>
            </a:extLst>
          </p:cNvPr>
          <p:cNvSpPr txBox="1"/>
          <p:nvPr/>
        </p:nvSpPr>
        <p:spPr>
          <a:xfrm>
            <a:off x="8476488" y="397763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Why it matters:
Separates cancellations from no-shows.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77986C-56FF-45AF-B674-C04CA04992AE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 err="1">
                <a:solidFill>
                  <a:srgbClr val="B4BEC8"/>
                </a:solidFill>
                <a:latin typeface="Aptos"/>
              </a:rPr>
              <a:t>HealthConnect</a:t>
            </a:r>
            <a:r>
              <a:rPr sz="800" b="0" dirty="0">
                <a:solidFill>
                  <a:srgbClr val="B4BEC8"/>
                </a:solidFill>
                <a:latin typeface="Aptos"/>
              </a:rPr>
              <a:t> | Week 5 Project Summary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5905F7-7EC9-4DB4-A7D0-5EC2362D42D1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0179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628C961-26DA-40EA-A7E6-4C031D5A6EE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2B69E2-115A-4C41-9D95-7AA04754C9DE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05  Key Findings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860634-3A75-4A2B-965E-F343FD11734D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Meaningful observations from the Week 5 analysis</a:t>
            </a:r>
          </a:p>
        </p:txBody>
      </p:sp>
      <p:sp>
        <p:nvSpPr>
          <p:cNvPr id="33" name="Rounded Rectangle 4">
            <a:extLst>
              <a:ext uri="{FF2B5EF4-FFF2-40B4-BE49-F238E27FC236}">
                <a16:creationId xmlns:a16="http://schemas.microsoft.com/office/drawing/2014/main" id="{0DAC29DA-7AF6-4075-A9D4-95FD08B1EF37}"/>
              </a:ext>
            </a:extLst>
          </p:cNvPr>
          <p:cNvSpPr/>
          <p:nvPr/>
        </p:nvSpPr>
        <p:spPr>
          <a:xfrm>
            <a:off x="640080" y="1417320"/>
            <a:ext cx="5166360" cy="12801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A7670-5F30-4F55-9B0F-4306BB7306B8}"/>
              </a:ext>
            </a:extLst>
          </p:cNvPr>
          <p:cNvSpPr txBox="1"/>
          <p:nvPr/>
        </p:nvSpPr>
        <p:spPr>
          <a:xfrm>
            <a:off x="822959" y="1581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No-shows are the largest outcome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8CF2FE-EA37-47C5-946A-8C1FCD777277}"/>
              </a:ext>
            </a:extLst>
          </p:cNvPr>
          <p:cNvSpPr txBox="1"/>
          <p:nvPr/>
        </p:nvSpPr>
        <p:spPr>
          <a:xfrm>
            <a:off x="822959" y="19202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F8FAFC"/>
                </a:solidFill>
                <a:latin typeface="Aptos"/>
              </a:rPr>
              <a:t>48.46% of appointments were no-shows.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23FAD8-1A10-4085-8C53-46E752D34479}"/>
              </a:ext>
            </a:extLst>
          </p:cNvPr>
          <p:cNvSpPr txBox="1"/>
          <p:nvPr/>
        </p:nvSpPr>
        <p:spPr>
          <a:xfrm>
            <a:off x="822959" y="23134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C8"/>
                </a:solidFill>
                <a:latin typeface="Aptos"/>
              </a:rPr>
              <a:t>Implication: Prioritise missed-appointment reduction.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B88AD9B1-8786-48D7-A06D-4E584FFDA579}"/>
              </a:ext>
            </a:extLst>
          </p:cNvPr>
          <p:cNvSpPr/>
          <p:nvPr/>
        </p:nvSpPr>
        <p:spPr>
          <a:xfrm>
            <a:off x="6263640" y="1417320"/>
            <a:ext cx="5166360" cy="12801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722900-1727-402C-969E-9895F454334E}"/>
              </a:ext>
            </a:extLst>
          </p:cNvPr>
          <p:cNvSpPr txBox="1"/>
          <p:nvPr/>
        </p:nvSpPr>
        <p:spPr>
          <a:xfrm>
            <a:off x="6446520" y="1581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Attendance is below half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1955F6-59E9-4703-86D5-E7479995A2B9}"/>
              </a:ext>
            </a:extLst>
          </p:cNvPr>
          <p:cNvSpPr txBox="1"/>
          <p:nvPr/>
        </p:nvSpPr>
        <p:spPr>
          <a:xfrm>
            <a:off x="6446520" y="19202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F8FAFC"/>
                </a:solidFill>
                <a:latin typeface="Aptos"/>
              </a:rPr>
              <a:t>46.28% of appointments were attended.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A98677-F890-426C-A601-D0D7CF370D70}"/>
              </a:ext>
            </a:extLst>
          </p:cNvPr>
          <p:cNvSpPr txBox="1"/>
          <p:nvPr/>
        </p:nvSpPr>
        <p:spPr>
          <a:xfrm>
            <a:off x="6446520" y="23134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C8"/>
                </a:solidFill>
                <a:latin typeface="Aptos"/>
              </a:rPr>
              <a:t>Implication: Investigate factors linked to low attendance.</a:t>
            </a:r>
          </a:p>
        </p:txBody>
      </p:sp>
      <p:sp>
        <p:nvSpPr>
          <p:cNvPr id="41" name="Rounded Rectangle 12">
            <a:extLst>
              <a:ext uri="{FF2B5EF4-FFF2-40B4-BE49-F238E27FC236}">
                <a16:creationId xmlns:a16="http://schemas.microsoft.com/office/drawing/2014/main" id="{C074CB68-E47E-46AA-B019-3FB915174900}"/>
              </a:ext>
            </a:extLst>
          </p:cNvPr>
          <p:cNvSpPr/>
          <p:nvPr/>
        </p:nvSpPr>
        <p:spPr>
          <a:xfrm>
            <a:off x="640080" y="2971800"/>
            <a:ext cx="5166360" cy="12801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71232F-909C-4C82-8C5C-D063D866F913}"/>
              </a:ext>
            </a:extLst>
          </p:cNvPr>
          <p:cNvSpPr txBox="1"/>
          <p:nvPr/>
        </p:nvSpPr>
        <p:spPr>
          <a:xfrm>
            <a:off x="822959" y="3136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dirty="0">
                <a:solidFill>
                  <a:srgbClr val="32B1A6"/>
                </a:solidFill>
                <a:latin typeface="Aptos"/>
              </a:rPr>
              <a:t>Booking Lead days </a:t>
            </a:r>
            <a:endParaRPr sz="1150" b="1" dirty="0">
              <a:solidFill>
                <a:srgbClr val="32B1A6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B7B856-84B3-4257-AD01-AFDC02C438CC}"/>
              </a:ext>
            </a:extLst>
          </p:cNvPr>
          <p:cNvSpPr txBox="1"/>
          <p:nvPr/>
        </p:nvSpPr>
        <p:spPr>
          <a:xfrm>
            <a:off x="822959" y="3474720"/>
            <a:ext cx="4663440" cy="24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69" b="0" dirty="0">
                <a:solidFill>
                  <a:srgbClr val="F8FAFC"/>
                </a:solidFill>
                <a:latin typeface="Aptos"/>
              </a:rPr>
              <a:t>Patient with longer lead days are less likely to attend their  appointment</a:t>
            </a:r>
            <a:endParaRPr sz="969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2BE3BD-FA70-4D37-8608-9435318FF4A1}"/>
              </a:ext>
            </a:extLst>
          </p:cNvPr>
          <p:cNvSpPr txBox="1"/>
          <p:nvPr/>
        </p:nvSpPr>
        <p:spPr>
          <a:xfrm>
            <a:off x="822959" y="3867912"/>
            <a:ext cx="4663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B4BEC8"/>
                </a:solidFill>
                <a:latin typeface="Aptos"/>
              </a:rPr>
              <a:t>Implication: </a:t>
            </a:r>
            <a:r>
              <a:rPr lang="en-US" sz="900" dirty="0">
                <a:solidFill>
                  <a:srgbClr val="B4BEC8"/>
                </a:solidFill>
                <a:latin typeface="Aptos"/>
              </a:rPr>
              <a:t>Consider reducing the number of days between booking and appointment</a:t>
            </a:r>
            <a:r>
              <a:rPr sz="900" b="0" dirty="0">
                <a:solidFill>
                  <a:srgbClr val="B4BEC8"/>
                </a:solidFill>
                <a:latin typeface="Aptos"/>
              </a:rPr>
              <a:t>.</a:t>
            </a:r>
          </a:p>
        </p:txBody>
      </p:sp>
      <p:sp>
        <p:nvSpPr>
          <p:cNvPr id="45" name="Rounded Rectangle 16">
            <a:extLst>
              <a:ext uri="{FF2B5EF4-FFF2-40B4-BE49-F238E27FC236}">
                <a16:creationId xmlns:a16="http://schemas.microsoft.com/office/drawing/2014/main" id="{0EEDB223-DF52-47E0-9090-259A81D2F805}"/>
              </a:ext>
            </a:extLst>
          </p:cNvPr>
          <p:cNvSpPr/>
          <p:nvPr/>
        </p:nvSpPr>
        <p:spPr>
          <a:xfrm>
            <a:off x="6263640" y="2971800"/>
            <a:ext cx="5166360" cy="12801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2FC9A9-7731-43E3-8FC3-64EF9671CC67}"/>
              </a:ext>
            </a:extLst>
          </p:cNvPr>
          <p:cNvSpPr txBox="1"/>
          <p:nvPr/>
        </p:nvSpPr>
        <p:spPr>
          <a:xfrm>
            <a:off x="6446520" y="3136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Reminder pattern observed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3CDF06-1067-4397-8131-3D69D667E81F}"/>
              </a:ext>
            </a:extLst>
          </p:cNvPr>
          <p:cNvSpPr txBox="1"/>
          <p:nvPr/>
        </p:nvSpPr>
        <p:spPr>
          <a:xfrm>
            <a:off x="6446520" y="34747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F8FAFC"/>
                </a:solidFill>
                <a:latin typeface="Aptos"/>
              </a:rPr>
              <a:t>Patients without reminders were more likely to miss appointments.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A3761D-418A-4388-B6E0-E6BACFBC5BEA}"/>
              </a:ext>
            </a:extLst>
          </p:cNvPr>
          <p:cNvSpPr txBox="1"/>
          <p:nvPr/>
        </p:nvSpPr>
        <p:spPr>
          <a:xfrm>
            <a:off x="6446520" y="38679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C8"/>
                </a:solidFill>
                <a:latin typeface="Aptos"/>
              </a:rPr>
              <a:t>Implication: Review reminder coverage and channel effectiveness.</a:t>
            </a:r>
          </a:p>
        </p:txBody>
      </p:sp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941AFE09-F8EF-4D65-BC80-E195E1F58C5F}"/>
              </a:ext>
            </a:extLst>
          </p:cNvPr>
          <p:cNvSpPr/>
          <p:nvPr/>
        </p:nvSpPr>
        <p:spPr>
          <a:xfrm>
            <a:off x="640080" y="4526280"/>
            <a:ext cx="5166360" cy="12801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51B8A8-30B9-4E16-AB34-9E2FC331A30D}"/>
              </a:ext>
            </a:extLst>
          </p:cNvPr>
          <p:cNvSpPr txBox="1"/>
          <p:nvPr/>
        </p:nvSpPr>
        <p:spPr>
          <a:xfrm>
            <a:off x="822959" y="4690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Previous no-show pattern observed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48C2A3-1917-4F78-9DF6-D4D224143343}"/>
              </a:ext>
            </a:extLst>
          </p:cNvPr>
          <p:cNvSpPr txBox="1"/>
          <p:nvPr/>
        </p:nvSpPr>
        <p:spPr>
          <a:xfrm>
            <a:off x="822959" y="50292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F8FAFC"/>
                </a:solidFill>
                <a:latin typeface="Aptos"/>
              </a:rPr>
              <a:t>Patients with a history of missed appointments were more likely to miss again.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274F3C-14FD-44D0-9B15-28D1CE83D865}"/>
              </a:ext>
            </a:extLst>
          </p:cNvPr>
          <p:cNvSpPr txBox="1"/>
          <p:nvPr/>
        </p:nvSpPr>
        <p:spPr>
          <a:xfrm>
            <a:off x="822959" y="54223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C8"/>
                </a:solidFill>
                <a:latin typeface="Aptos"/>
              </a:rPr>
              <a:t>Implication: Consider targeted follow-up for repeated no-show patterns.</a:t>
            </a:r>
          </a:p>
        </p:txBody>
      </p:sp>
      <p:sp>
        <p:nvSpPr>
          <p:cNvPr id="53" name="Rounded Rectangle 24">
            <a:extLst>
              <a:ext uri="{FF2B5EF4-FFF2-40B4-BE49-F238E27FC236}">
                <a16:creationId xmlns:a16="http://schemas.microsoft.com/office/drawing/2014/main" id="{0BEBF4EA-A507-4D8E-99CC-D2713D5E341B}"/>
              </a:ext>
            </a:extLst>
          </p:cNvPr>
          <p:cNvSpPr/>
          <p:nvPr/>
        </p:nvSpPr>
        <p:spPr>
          <a:xfrm>
            <a:off x="6263640" y="4526280"/>
            <a:ext cx="5166360" cy="128016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235FD6-A3BE-4F5B-957A-CB5A02B70D99}"/>
              </a:ext>
            </a:extLst>
          </p:cNvPr>
          <p:cNvSpPr txBox="1"/>
          <p:nvPr/>
        </p:nvSpPr>
        <p:spPr>
          <a:xfrm>
            <a:off x="6446520" y="4690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Data gaps remain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8508E4-CB23-451C-83E6-C51637D08FEF}"/>
              </a:ext>
            </a:extLst>
          </p:cNvPr>
          <p:cNvSpPr txBox="1"/>
          <p:nvPr/>
        </p:nvSpPr>
        <p:spPr>
          <a:xfrm>
            <a:off x="6446520" y="50292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F8FAFC"/>
                </a:solidFill>
                <a:latin typeface="Aptos"/>
              </a:rPr>
              <a:t>90 distance and 60 waiting-time values are missing.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3B01A-6241-4071-93C0-8DCFE4B840F1}"/>
              </a:ext>
            </a:extLst>
          </p:cNvPr>
          <p:cNvSpPr txBox="1"/>
          <p:nvPr/>
        </p:nvSpPr>
        <p:spPr>
          <a:xfrm>
            <a:off x="6446520" y="54223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C8"/>
                </a:solidFill>
                <a:latin typeface="Aptos"/>
              </a:rPr>
              <a:t>Implication: Complete and document missing-value treatment.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2E09E6-C507-4187-A84D-05E9710605ED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8"/>
                </a:solidFill>
                <a:latin typeface="Aptos"/>
              </a:rPr>
              <a:t>HealthConnect | Week 5 Project Summary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ECE91A-4CFA-4CF8-BE5A-D8AAFCBC57BD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4336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5B09392-5B69-4F94-AB59-2D36122632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7ED160-E5EC-4646-8687-B159116BA3B1}"/>
              </a:ext>
            </a:extLst>
          </p:cNvPr>
          <p:cNvSpPr txBox="1"/>
          <p:nvPr/>
        </p:nvSpPr>
        <p:spPr>
          <a:xfrm>
            <a:off x="640080" y="291465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8FAFC"/>
                </a:solidFill>
                <a:latin typeface="Aptos"/>
              </a:rPr>
              <a:t>06  Dashboard / </a:t>
            </a:r>
            <a:r>
              <a:rPr sz="2400" b="1" dirty="0" err="1">
                <a:solidFill>
                  <a:srgbClr val="F8FAFC"/>
                </a:solidFill>
                <a:latin typeface="Aptos"/>
              </a:rPr>
              <a:t>Visualisation</a:t>
            </a:r>
            <a:endParaRPr sz="24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F6552F-518F-4118-9C2D-234C3F5B7F91}"/>
              </a:ext>
            </a:extLst>
          </p:cNvPr>
          <p:cNvSpPr txBox="1"/>
          <p:nvPr/>
        </p:nvSpPr>
        <p:spPr>
          <a:xfrm>
            <a:off x="660082" y="782345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B4BEC8"/>
                </a:solidFill>
                <a:latin typeface="Aptos"/>
              </a:rPr>
              <a:t>Initial Power BI analytical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58B5C-987A-414A-B963-9A2E38737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0" y="1134465"/>
            <a:ext cx="11531613" cy="54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3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23263D0-E9A5-4D8B-915D-31DD1A410D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9DE1B2-CFF1-4DBF-BD6B-74A8D3F14AFC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07  Recommendations &amp; Limitations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BD670C-C48F-463B-B9B4-E34F5E2EC225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Responsible next steps based on the current evidence</a:t>
            </a:r>
          </a:p>
        </p:txBody>
      </p:sp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F8EB4E16-34CA-4795-8ADC-93DAAD3046E1}"/>
              </a:ext>
            </a:extLst>
          </p:cNvPr>
          <p:cNvSpPr/>
          <p:nvPr/>
        </p:nvSpPr>
        <p:spPr>
          <a:xfrm>
            <a:off x="640080" y="1417320"/>
            <a:ext cx="5394960" cy="452628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712B1B-C562-497E-8EAF-806992EFB0AC}"/>
              </a:ext>
            </a:extLst>
          </p:cNvPr>
          <p:cNvSpPr txBox="1"/>
          <p:nvPr/>
        </p:nvSpPr>
        <p:spPr>
          <a:xfrm>
            <a:off x="86868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B1A6"/>
                </a:solidFill>
                <a:latin typeface="Aptos"/>
              </a:rPr>
              <a:t>Business recommendations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7BC7EF-D0DD-432A-88AE-51A856EDED0F}"/>
              </a:ext>
            </a:extLst>
          </p:cNvPr>
          <p:cNvSpPr txBox="1"/>
          <p:nvPr/>
        </p:nvSpPr>
        <p:spPr>
          <a:xfrm>
            <a:off x="868680" y="2148840"/>
            <a:ext cx="5029200" cy="1649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rgbClr val="2B91E0"/>
                </a:solidFill>
              </a:rPr>
              <a:t>• </a:t>
            </a:r>
            <a:r>
              <a:rPr sz="1200" dirty="0" err="1">
                <a:solidFill>
                  <a:srgbClr val="F8FAFC"/>
                </a:solidFill>
                <a:latin typeface="Aptos"/>
              </a:rPr>
              <a:t>Prioritise</a:t>
            </a:r>
            <a:r>
              <a:rPr sz="1200" dirty="0">
                <a:solidFill>
                  <a:srgbClr val="F8FAFC"/>
                </a:solidFill>
                <a:latin typeface="Aptos"/>
              </a:rPr>
              <a:t> no-show reduction.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2B91E0"/>
                </a:solidFill>
              </a:rPr>
              <a:t>• </a:t>
            </a:r>
            <a:r>
              <a:rPr sz="1200" dirty="0">
                <a:solidFill>
                  <a:srgbClr val="F8FAFC"/>
                </a:solidFill>
                <a:latin typeface="Aptos"/>
              </a:rPr>
              <a:t>Review reminder coverage and channel performance.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2B91E0"/>
                </a:solidFill>
              </a:rPr>
              <a:t>• </a:t>
            </a:r>
            <a:r>
              <a:rPr sz="1200" dirty="0">
                <a:solidFill>
                  <a:srgbClr val="F8FAFC"/>
                </a:solidFill>
                <a:latin typeface="Aptos"/>
              </a:rPr>
              <a:t>Consider targeted follow-up for repeated no-show patterns.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2B91E0"/>
                </a:solidFill>
              </a:rPr>
              <a:t>• </a:t>
            </a:r>
            <a:r>
              <a:rPr sz="1200" dirty="0">
                <a:solidFill>
                  <a:srgbClr val="F8FAFC"/>
                </a:solidFill>
                <a:latin typeface="Aptos"/>
              </a:rPr>
              <a:t>Improve completeness of distance and waiting-time data.</a:t>
            </a:r>
            <a:endParaRPr lang="en-US" sz="1200" dirty="0">
              <a:solidFill>
                <a:srgbClr val="F8FAFC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lang="en-US" sz="1200" b="1" dirty="0">
                <a:solidFill>
                  <a:srgbClr val="2B91E0"/>
                </a:solidFill>
              </a:rPr>
              <a:t>• </a:t>
            </a:r>
            <a:r>
              <a:rPr lang="en-US" sz="1200" dirty="0">
                <a:solidFill>
                  <a:srgbClr val="F8FAFC"/>
                </a:solidFill>
                <a:latin typeface="Aptos"/>
              </a:rPr>
              <a:t>Consider reducing the time between booking lead time and appointment</a:t>
            </a:r>
            <a:endParaRPr sz="1200" dirty="0">
              <a:solidFill>
                <a:srgbClr val="F8FAFC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2B91E0"/>
                </a:solidFill>
              </a:rPr>
              <a:t>• </a:t>
            </a:r>
            <a:r>
              <a:rPr sz="1200" dirty="0">
                <a:solidFill>
                  <a:srgbClr val="F8FAFC"/>
                </a:solidFill>
                <a:latin typeface="Aptos"/>
              </a:rPr>
              <a:t>Continue monitoring attendance, no-show and cancellation KPIs.</a:t>
            </a:r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32765EC9-2C38-4536-97B6-C2AB07D98861}"/>
              </a:ext>
            </a:extLst>
          </p:cNvPr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889544-04E9-4DC1-B2ED-ACB15EF5A08B}"/>
              </a:ext>
            </a:extLst>
          </p:cNvPr>
          <p:cNvSpPr txBox="1"/>
          <p:nvPr/>
        </p:nvSpPr>
        <p:spPr>
          <a:xfrm>
            <a:off x="649224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9139"/>
                </a:solidFill>
                <a:latin typeface="Aptos"/>
              </a:rPr>
              <a:t>Limitations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73AA75-2DA4-48BC-AFFF-786C2FB71CA2}"/>
              </a:ext>
            </a:extLst>
          </p:cNvPr>
          <p:cNvSpPr txBox="1"/>
          <p:nvPr/>
        </p:nvSpPr>
        <p:spPr>
          <a:xfrm>
            <a:off x="6492240" y="2148840"/>
            <a:ext cx="4663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B91E0"/>
                </a:solidFill>
              </a:rPr>
              <a:t>• </a:t>
            </a:r>
            <a:r>
              <a:rPr sz="1200">
                <a:solidFill>
                  <a:srgbClr val="F8FAFC"/>
                </a:solidFill>
                <a:latin typeface="Aptos"/>
              </a:rPr>
              <a:t>Dataset is fictional and may not fully represent real-world behaviour.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91E0"/>
                </a:solidFill>
              </a:rPr>
              <a:t>• </a:t>
            </a:r>
            <a:r>
              <a:rPr sz="1200">
                <a:solidFill>
                  <a:srgbClr val="F8FAFC"/>
                </a:solidFill>
                <a:latin typeface="Aptos"/>
              </a:rPr>
              <a:t>Some reasons for missed appointments are not captured.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91E0"/>
                </a:solidFill>
              </a:rPr>
              <a:t>• </a:t>
            </a:r>
            <a:r>
              <a:rPr sz="1200">
                <a:solidFill>
                  <a:srgbClr val="F8FAFC"/>
                </a:solidFill>
                <a:latin typeface="Aptos"/>
              </a:rPr>
              <a:t>Distance and waiting time contain missing values.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91E0"/>
                </a:solidFill>
              </a:rPr>
              <a:t>• </a:t>
            </a:r>
            <a:r>
              <a:rPr sz="1200">
                <a:solidFill>
                  <a:srgbClr val="F8FAFC"/>
                </a:solidFill>
                <a:latin typeface="Aptos"/>
              </a:rPr>
              <a:t>Associations do not establish causation.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91E0"/>
                </a:solidFill>
              </a:rPr>
              <a:t>• </a:t>
            </a:r>
            <a:r>
              <a:rPr sz="1200">
                <a:solidFill>
                  <a:srgbClr val="F8FAFC"/>
                </a:solidFill>
                <a:latin typeface="Aptos"/>
              </a:rPr>
              <a:t>Some relationships require further statistical validation.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B4665-68AE-4A63-90E5-51C77CA25EB4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8"/>
                </a:solidFill>
                <a:latin typeface="Aptos"/>
              </a:rPr>
              <a:t>HealthConnect | Week 5 Project Summary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8E9609-C43B-412F-AD9E-99CA9BB6BFDB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5223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C07A93-ABD4-46B4-BE0C-25D5BF03FD1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51A57-DF8D-4ADA-8FA8-8DD44E7CD77D}"/>
              </a:ext>
            </a:extLst>
          </p:cNvPr>
          <p:cNvSpPr txBox="1"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08  Next Analytical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7A03C-B9BC-45F9-8EBB-AA4E45D32A19}"/>
              </a:ext>
            </a:extLst>
          </p:cNvPr>
          <p:cNvSpPr txBox="1"/>
          <p:nvPr/>
        </p:nvSpPr>
        <p:spPr>
          <a:xfrm>
            <a:off x="658368" y="8046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EC8"/>
                </a:solidFill>
                <a:latin typeface="Aptos"/>
              </a:rPr>
              <a:t>Completing and strengthening the HealthConnect analysis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B1555F02-14D6-4851-B1D7-26FB8E15CC37}"/>
              </a:ext>
            </a:extLst>
          </p:cNvPr>
          <p:cNvSpPr/>
          <p:nvPr/>
        </p:nvSpPr>
        <p:spPr>
          <a:xfrm>
            <a:off x="640080" y="141732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69EC82-73F9-4379-A550-E7874AB6B831}"/>
              </a:ext>
            </a:extLst>
          </p:cNvPr>
          <p:cNvSpPr txBox="1"/>
          <p:nvPr/>
        </p:nvSpPr>
        <p:spPr>
          <a:xfrm>
            <a:off x="822959" y="1581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B91E0"/>
                </a:solidFill>
                <a:latin typeface="Aptos"/>
              </a:rPr>
              <a:t>1. COMPLETE CLEANING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E60F2-4A37-426E-80C0-D611425C758B}"/>
              </a:ext>
            </a:extLst>
          </p:cNvPr>
          <p:cNvSpPr txBox="1"/>
          <p:nvPr/>
        </p:nvSpPr>
        <p:spPr>
          <a:xfrm>
            <a:off x="822959" y="19476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Document missing-value treatment and validate the analysis-ready data.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DF1FC142-4E33-4E08-A588-4BCB2871EC4D}"/>
              </a:ext>
            </a:extLst>
          </p:cNvPr>
          <p:cNvSpPr/>
          <p:nvPr/>
        </p:nvSpPr>
        <p:spPr>
          <a:xfrm>
            <a:off x="6263640" y="141732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CA1BD-3D1D-4657-8F9A-D543CC098FDF}"/>
              </a:ext>
            </a:extLst>
          </p:cNvPr>
          <p:cNvSpPr txBox="1"/>
          <p:nvPr/>
        </p:nvSpPr>
        <p:spPr>
          <a:xfrm>
            <a:off x="6446520" y="1581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2. COMPLETE KPIs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15FAD-00CC-4FDF-B360-5621DC88F004}"/>
              </a:ext>
            </a:extLst>
          </p:cNvPr>
          <p:cNvSpPr txBox="1"/>
          <p:nvPr/>
        </p:nvSpPr>
        <p:spPr>
          <a:xfrm>
            <a:off x="6446520" y="19476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Calculate Repeat No-Show Rate and Reminder Attendance Rate.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D041DAF9-C117-411D-A318-F31A11E98061}"/>
              </a:ext>
            </a:extLst>
          </p:cNvPr>
          <p:cNvSpPr/>
          <p:nvPr/>
        </p:nvSpPr>
        <p:spPr>
          <a:xfrm>
            <a:off x="640080" y="292608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7E09BE-9ACB-4940-A7C2-801A954A9A24}"/>
              </a:ext>
            </a:extLst>
          </p:cNvPr>
          <p:cNvSpPr txBox="1"/>
          <p:nvPr/>
        </p:nvSpPr>
        <p:spPr>
          <a:xfrm>
            <a:off x="822959" y="3090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B91E0"/>
                </a:solidFill>
                <a:latin typeface="Aptos"/>
              </a:rPr>
              <a:t>3. DEEPEN EDA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03C5AF-F846-459B-9A18-5455E5C530A1}"/>
              </a:ext>
            </a:extLst>
          </p:cNvPr>
          <p:cNvSpPr txBox="1"/>
          <p:nvPr/>
        </p:nvSpPr>
        <p:spPr>
          <a:xfrm>
            <a:off x="822959" y="34564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Quantify distance and waiting-time relationships and compare rates.</a:t>
            </a: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12E4602B-E70F-4456-9938-57E4432430D2}"/>
              </a:ext>
            </a:extLst>
          </p:cNvPr>
          <p:cNvSpPr/>
          <p:nvPr/>
        </p:nvSpPr>
        <p:spPr>
          <a:xfrm>
            <a:off x="6263640" y="292608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F83673-9B90-4BA2-882A-404CCD56E16C}"/>
              </a:ext>
            </a:extLst>
          </p:cNvPr>
          <p:cNvSpPr txBox="1"/>
          <p:nvPr/>
        </p:nvSpPr>
        <p:spPr>
          <a:xfrm>
            <a:off x="6446520" y="3090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4. REFINE DASHBOARD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E7E7F-A5C8-499C-8148-6264FD013CF0}"/>
              </a:ext>
            </a:extLst>
          </p:cNvPr>
          <p:cNvSpPr txBox="1"/>
          <p:nvPr/>
        </p:nvSpPr>
        <p:spPr>
          <a:xfrm>
            <a:off x="6446520" y="34564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Keep visuals directly linked to the business questions.</a:t>
            </a:r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68FCBA06-309E-4B10-AB7C-90C1B5FDE913}"/>
              </a:ext>
            </a:extLst>
          </p:cNvPr>
          <p:cNvSpPr/>
          <p:nvPr/>
        </p:nvSpPr>
        <p:spPr>
          <a:xfrm>
            <a:off x="640080" y="443484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AF290-EFC8-4C2C-86B0-C0C80C56E058}"/>
              </a:ext>
            </a:extLst>
          </p:cNvPr>
          <p:cNvSpPr txBox="1"/>
          <p:nvPr/>
        </p:nvSpPr>
        <p:spPr>
          <a:xfrm>
            <a:off x="822959" y="45994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B91E0"/>
                </a:solidFill>
                <a:latin typeface="Aptos"/>
              </a:rPr>
              <a:t>5. VALIDATE INSIGHTS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738F3D-7945-4C8B-9AAF-2E485E131CF1}"/>
              </a:ext>
            </a:extLst>
          </p:cNvPr>
          <p:cNvSpPr txBox="1"/>
          <p:nvPr/>
        </p:nvSpPr>
        <p:spPr>
          <a:xfrm>
            <a:off x="822959" y="49651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Use further analysis before treating patterns as actionable evidence.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472D317B-521B-4C02-AA3C-155B8CE685FB}"/>
              </a:ext>
            </a:extLst>
          </p:cNvPr>
          <p:cNvSpPr/>
          <p:nvPr/>
        </p:nvSpPr>
        <p:spPr>
          <a:xfrm>
            <a:off x="6263640" y="4434840"/>
            <a:ext cx="5166360" cy="1234440"/>
          </a:xfrm>
          <a:prstGeom prst="roundRect">
            <a:avLst/>
          </a:prstGeom>
          <a:solidFill>
            <a:srgbClr val="26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5765C4-E7D2-4269-93CC-50A151C070CE}"/>
              </a:ext>
            </a:extLst>
          </p:cNvPr>
          <p:cNvSpPr txBox="1"/>
          <p:nvPr/>
        </p:nvSpPr>
        <p:spPr>
          <a:xfrm>
            <a:off x="6446520" y="45994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2B1A6"/>
                </a:solidFill>
                <a:latin typeface="Aptos"/>
              </a:rPr>
              <a:t>6. FINALISE RECOMMENDATIONS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E005E-C8D9-41A2-A30C-48CEFDCAAA15}"/>
              </a:ext>
            </a:extLst>
          </p:cNvPr>
          <p:cNvSpPr txBox="1"/>
          <p:nvPr/>
        </p:nvSpPr>
        <p:spPr>
          <a:xfrm>
            <a:off x="6446520" y="49651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Translate validated findings into targeted operational actions.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588EAE-233B-4B0D-80CA-50A6A30A31E3}"/>
              </a:ext>
            </a:extLst>
          </p:cNvPr>
          <p:cNvSpPr txBox="1"/>
          <p:nvPr/>
        </p:nvSpPr>
        <p:spPr>
          <a:xfrm>
            <a:off x="658368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BEC8"/>
                </a:solidFill>
                <a:latin typeface="Aptos"/>
              </a:rPr>
              <a:t>Week 5 outcome: move from initial data review to evidence-based analysis and business insight.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FBBBE1-359F-4441-9E7C-7A72EAF70AFD}"/>
              </a:ext>
            </a:extLst>
          </p:cNvPr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8"/>
                </a:solidFill>
                <a:latin typeface="Aptos"/>
              </a:rPr>
              <a:t>HealthConnect | Week 5 Project Summary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BE6C18-FB32-4F40-B90B-8DCEF5BD162D}"/>
              </a:ext>
            </a:extLst>
          </p:cNvPr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4BEC8"/>
                </a:solidFill>
                <a:latin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6627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763</Words>
  <Application>Microsoft Office PowerPoint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43</cp:revision>
  <dcterms:created xsi:type="dcterms:W3CDTF">2026-08-26T13:10:54Z</dcterms:created>
  <dcterms:modified xsi:type="dcterms:W3CDTF">2026-09-05T20:38:48Z</dcterms:modified>
</cp:coreProperties>
</file>