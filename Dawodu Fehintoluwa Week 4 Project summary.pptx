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2" r:id="rId5"/>
    <p:sldId id="259" r:id="rId6"/>
    <p:sldId id="260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308"/>
    <a:srgbClr val="0636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162" autoAdjust="0"/>
  </p:normalViewPr>
  <p:slideViewPr>
    <p:cSldViewPr snapToGrid="0">
      <p:cViewPr varScale="1">
        <p:scale>
          <a:sx n="67" d="100"/>
          <a:sy n="67" d="100"/>
        </p:scale>
        <p:origin x="8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F9434-7028-44D6-9F42-0DBC0497AD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90DF41-EFEF-4505-84EF-26B1D9965B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F2C35-F811-4A27-B042-9E2FF868A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D700-6F38-49C7-9668-1E2BA227727A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FBF78-987E-4487-AC57-8E4D1EE64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BC8C6-66CE-45D3-8894-BC7ED21F3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6C00-FBB5-4456-955D-398C6AD52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287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2C47B-38DC-46C4-A5D3-9C0A43CB0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7C543-F975-4051-A6E2-56E2FCA84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206F1-7398-48CE-BBA9-CD571970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D700-6F38-49C7-9668-1E2BA227727A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33077-0BC3-4F9F-BBA0-E8DF65FA8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588EE-A67C-4D9A-B56F-01E2F4606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6C00-FBB5-4456-955D-398C6AD52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963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45609-BA8B-4D5F-9A6B-E506AD5FB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F5BA4B-A1D4-419A-92D2-113E6B19C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E732A-EB88-4F66-999D-724044564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D700-6F38-49C7-9668-1E2BA227727A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F9248-3747-411F-9CE5-54364D332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B2C10-2C61-4690-90FC-BD73729F1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6C00-FBB5-4456-955D-398C6AD52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008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AE6-8AEB-4AD8-A762-DB23D351C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DA1D6-9601-4B38-BDA9-C067F7E3B4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212A7C-3BAD-49F0-A6BF-59FC93DA1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8CC71-279B-45D3-801F-D5BB6A412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D700-6F38-49C7-9668-1E2BA227727A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7B082-884E-411F-975A-F3F5AD6F6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EE7AE-0429-42FA-BF8B-66E96D1CE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6C00-FBB5-4456-955D-398C6AD52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040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DA6BD-B6B9-43B4-B562-E3F7C3355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B25E1-E66F-4C71-97C8-5EBE1AA9B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BD4DE-DF2D-440D-BC84-6B969D83C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19C99A-34D9-4437-ADFA-76D21C7DC7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4B886D-24EE-4A4F-9956-39B713CDE5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EB773C-D59C-47FA-A5C5-C71D133B7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D700-6F38-49C7-9668-1E2BA227727A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0163A8-0957-41B8-A62B-8491B8450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7082C7-DBF2-4743-A318-F6804B59A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6C00-FBB5-4456-955D-398C6AD52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016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A340C-D9EE-4985-B9ED-86C264365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C19606-6A6D-4661-BB31-6CA8F3309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D700-6F38-49C7-9668-1E2BA227727A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B2BC4A-EB3F-4A1E-8DC1-15B0ED2B2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BDC1B1-EB97-4C34-BC58-76852BEC9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6C00-FBB5-4456-955D-398C6AD52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97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5D5381-F1D0-47D2-8C2D-B0D77704D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D700-6F38-49C7-9668-1E2BA227727A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8AE2C6-9AB1-4ACD-A26B-BAF700FFC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C083B-B23F-4DE4-9831-5DE9310C2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6C00-FBB5-4456-955D-398C6AD52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354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B43D4-521C-456A-8040-3095C855B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8552-2EF6-45AD-A351-98D02A836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46686-09C6-4F82-B8AF-8E2350E8D2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006218-F219-4180-A089-416272AB7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D700-6F38-49C7-9668-1E2BA227727A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C69396-C701-4AD4-B8F1-A00C138C8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96616-DA04-4213-BB31-48903A8D0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6C00-FBB5-4456-955D-398C6AD52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271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BA3CB-60DC-4DC6-8D2C-55B227EDD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81A5F2-4557-4528-9240-4717EF04D1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605329-1A0E-4ACD-995E-4E653A82A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C35E15-8711-4DDA-AC87-F38E7DBAB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D700-6F38-49C7-9668-1E2BA227727A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D0FF0-A80A-41C7-A4FE-B75F30EEA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976C6-EE83-48B2-A385-FC35DA577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6C00-FBB5-4456-955D-398C6AD52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512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A0FED-A06D-4616-83BB-136BEDE05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57CBE8-3765-4E16-B2D1-25C66108A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CD3EB-AE42-46C3-B412-FCEF6D0DD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D700-6F38-49C7-9668-1E2BA227727A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A7356-4822-4ACE-BDBE-658B75EDF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F5000-9FF8-4C48-817C-6483E543B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6C00-FBB5-4456-955D-398C6AD52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367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4492B1-96D3-49F1-8E68-C5C88BE1A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BBC6C0-9D72-4795-8689-2EE3051C4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486B1-310F-440E-A338-A141A8F43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D700-6F38-49C7-9668-1E2BA227727A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734C5-628A-4C46-9B89-5B2A3B31E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D11D6-23F5-404B-A987-A51FA3064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6C00-FBB5-4456-955D-398C6AD52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177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57BE01-8B1A-41DB-ABCA-2D6392967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EFAA6-2121-444E-8286-068918D0B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2E345-4BBC-4B17-8BFC-1717F8578F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3FD700-6F38-49C7-9668-1E2BA227727A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18B9F-73C7-4661-BED2-9825F2D59E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F62B6-83DA-43EC-AB91-80977B977E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A6C00-FBB5-4456-955D-398C6AD52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05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5CB95CB-F191-4426-8272-60EA8473711F}"/>
              </a:ext>
            </a:extLst>
          </p:cNvPr>
          <p:cNvSpPr/>
          <p:nvPr/>
        </p:nvSpPr>
        <p:spPr>
          <a:xfrm>
            <a:off x="1524" y="0"/>
            <a:ext cx="146304" cy="6858000"/>
          </a:xfrm>
          <a:prstGeom prst="rect">
            <a:avLst/>
          </a:prstGeom>
          <a:solidFill>
            <a:srgbClr val="1B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8A59F172-CB47-428C-95B5-D092B541D22E}"/>
              </a:ext>
            </a:extLst>
          </p:cNvPr>
          <p:cNvSpPr txBox="1"/>
          <p:nvPr/>
        </p:nvSpPr>
        <p:spPr>
          <a:xfrm>
            <a:off x="915924" y="1234440"/>
            <a:ext cx="199849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1">
                <a:solidFill>
                  <a:srgbClr val="1B5F87"/>
                </a:solidFill>
                <a:latin typeface="Aptos"/>
              </a:defRPr>
            </a:pPr>
            <a:r>
              <a:rPr sz="1400"/>
              <a:t>HEALTHCONNECT CLINIC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3F42C244-FD48-47CE-9604-D7238CBD831E}"/>
              </a:ext>
            </a:extLst>
          </p:cNvPr>
          <p:cNvSpPr txBox="1"/>
          <p:nvPr/>
        </p:nvSpPr>
        <p:spPr>
          <a:xfrm>
            <a:off x="915924" y="1828800"/>
            <a:ext cx="3614579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900" b="1">
                <a:solidFill>
                  <a:srgbClr val="18374B"/>
                </a:solidFill>
                <a:latin typeface="Aptos"/>
              </a:defRPr>
            </a:pPr>
            <a:r>
              <a:rPr sz="3200"/>
              <a:t>WEEK 4</a:t>
            </a:r>
            <a:br>
              <a:rPr sz="3200"/>
            </a:br>
            <a:r>
              <a:rPr sz="3200"/>
              <a:t>PROJECT SUMMARY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DAD5F8DB-3F56-4809-9ABD-E8AF985BDCC9}"/>
              </a:ext>
            </a:extLst>
          </p:cNvPr>
          <p:cNvSpPr txBox="1"/>
          <p:nvPr/>
        </p:nvSpPr>
        <p:spPr>
          <a:xfrm>
            <a:off x="915924" y="3246120"/>
            <a:ext cx="184268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500" b="0">
                <a:solidFill>
                  <a:srgbClr val="5E6A74"/>
                </a:solidFill>
                <a:latin typeface="Aptos"/>
              </a:defRPr>
            </a:pPr>
            <a:r>
              <a:rPr sz="1600"/>
              <a:t>Data Analytics Track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D1F9F970-4610-44FC-94C3-6EDC6CD3C732}"/>
              </a:ext>
            </a:extLst>
          </p:cNvPr>
          <p:cNvSpPr txBox="1"/>
          <p:nvPr/>
        </p:nvSpPr>
        <p:spPr>
          <a:xfrm>
            <a:off x="915924" y="3794760"/>
            <a:ext cx="4340932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700" b="1">
                <a:solidFill>
                  <a:srgbClr val="2A343E"/>
                </a:solidFill>
                <a:latin typeface="Aptos"/>
              </a:defRPr>
            </a:pPr>
            <a:r>
              <a:t>Appointment Attendance &amp; No-Show Analysis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CE6FD6C9-CAE1-40FC-BB86-E2B0DBB6524D}"/>
              </a:ext>
            </a:extLst>
          </p:cNvPr>
          <p:cNvSpPr txBox="1"/>
          <p:nvPr/>
        </p:nvSpPr>
        <p:spPr>
          <a:xfrm>
            <a:off x="915924" y="4983480"/>
            <a:ext cx="279262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00" b="0">
                <a:solidFill>
                  <a:srgbClr val="5E6A74"/>
                </a:solidFill>
                <a:latin typeface="Aptos"/>
              </a:defRPr>
            </a:pPr>
            <a:r>
              <a:rPr sz="1200"/>
              <a:t>Prepared by: Dawodu Fehintoluwa Bukola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ECF9C9-CF3E-4377-ADF5-3684B3F4798F}"/>
              </a:ext>
            </a:extLst>
          </p:cNvPr>
          <p:cNvSpPr/>
          <p:nvPr/>
        </p:nvSpPr>
        <p:spPr>
          <a:xfrm>
            <a:off x="8825484" y="0"/>
            <a:ext cx="3364992" cy="6858000"/>
          </a:xfrm>
          <a:prstGeom prst="rect">
            <a:avLst/>
          </a:prstGeom>
          <a:solidFill>
            <a:srgbClr val="18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/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8CF2C569-0DE5-42E8-8E1D-9DE5FB4B7921}"/>
              </a:ext>
            </a:extLst>
          </p:cNvPr>
          <p:cNvSpPr txBox="1"/>
          <p:nvPr/>
        </p:nvSpPr>
        <p:spPr>
          <a:xfrm>
            <a:off x="10140258" y="1325880"/>
            <a:ext cx="75373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1400"/>
              <a:t>WEEK 4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15A83B3D-A133-4F44-94EC-01505EBB1753}"/>
              </a:ext>
            </a:extLst>
          </p:cNvPr>
          <p:cNvSpPr txBox="1"/>
          <p:nvPr/>
        </p:nvSpPr>
        <p:spPr>
          <a:xfrm>
            <a:off x="9641433" y="2148840"/>
            <a:ext cx="1659942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rPr sz="2000"/>
              <a:t>UNDERSTAND</a:t>
            </a:r>
            <a:br>
              <a:rPr sz="2000"/>
            </a:br>
            <a:r>
              <a:rPr sz="2000"/>
              <a:t>→ ASSESS</a:t>
            </a:r>
            <a:br>
              <a:rPr sz="2000"/>
            </a:br>
            <a:r>
              <a:rPr sz="2000"/>
              <a:t>→ PLAN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0BDABFB0-2092-4511-A583-F884487D1C51}"/>
              </a:ext>
            </a:extLst>
          </p:cNvPr>
          <p:cNvSpPr txBox="1"/>
          <p:nvPr/>
        </p:nvSpPr>
        <p:spPr>
          <a:xfrm>
            <a:off x="9965144" y="4754880"/>
            <a:ext cx="101252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rPr sz="1200"/>
              <a:t>Initial project</a:t>
            </a:r>
            <a:br>
              <a:rPr sz="1200"/>
            </a:br>
            <a:r>
              <a:rPr sz="1200"/>
              <a:t>assessment</a:t>
            </a:r>
          </a:p>
        </p:txBody>
      </p:sp>
    </p:spTree>
    <p:extLst>
      <p:ext uri="{BB962C8B-B14F-4D97-AF65-F5344CB8AC3E}">
        <p14:creationId xmlns:p14="http://schemas.microsoft.com/office/powerpoint/2010/main" val="913185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9CA5A06-AC3E-4628-AAB1-25DD66C0A318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/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id="{00476409-AE6D-4E58-9AC2-848041204173}"/>
              </a:ext>
            </a:extLst>
          </p:cNvPr>
          <p:cNvSpPr txBox="1"/>
          <p:nvPr/>
        </p:nvSpPr>
        <p:spPr>
          <a:xfrm>
            <a:off x="929640" y="347472"/>
            <a:ext cx="30224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 b="1">
                <a:solidFill>
                  <a:srgbClr val="18374B"/>
                </a:solidFill>
                <a:latin typeface="Aptos"/>
              </a:defRPr>
            </a:pPr>
            <a:r>
              <a:rPr sz="2800"/>
              <a:t>1. Specific Problem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56BB73D7-1130-4910-9285-A044D2007905}"/>
              </a:ext>
            </a:extLst>
          </p:cNvPr>
          <p:cNvSpPr txBox="1"/>
          <p:nvPr/>
        </p:nvSpPr>
        <p:spPr>
          <a:xfrm>
            <a:off x="947928" y="896112"/>
            <a:ext cx="258756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50" b="0">
                <a:solidFill>
                  <a:srgbClr val="5E6A74"/>
                </a:solidFill>
                <a:latin typeface="Aptos"/>
              </a:defRPr>
            </a:pPr>
            <a:r>
              <a:rPr sz="1100"/>
              <a:t>What the Data Analytics track will address</a:t>
            </a:r>
          </a:p>
        </p:txBody>
      </p:sp>
      <p:sp>
        <p:nvSpPr>
          <p:cNvPr id="25" name="TextBox 4">
            <a:extLst>
              <a:ext uri="{FF2B5EF4-FFF2-40B4-BE49-F238E27FC236}">
                <a16:creationId xmlns:a16="http://schemas.microsoft.com/office/drawing/2014/main" id="{A97A6992-7024-45B0-BEDC-D7590DD139A9}"/>
              </a:ext>
            </a:extLst>
          </p:cNvPr>
          <p:cNvSpPr txBox="1"/>
          <p:nvPr/>
        </p:nvSpPr>
        <p:spPr>
          <a:xfrm>
            <a:off x="11511754" y="6446520"/>
            <a:ext cx="34496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 sz="800" b="0">
                <a:solidFill>
                  <a:srgbClr val="5E6A74"/>
                </a:solidFill>
                <a:latin typeface="Aptos"/>
              </a:defRPr>
            </a:pPr>
            <a:r>
              <a:rPr sz="900"/>
              <a:t>2/7</a:t>
            </a:r>
          </a:p>
        </p:txBody>
      </p:sp>
      <p:sp>
        <p:nvSpPr>
          <p:cNvPr id="26" name="Rounded Rectangle 5">
            <a:extLst>
              <a:ext uri="{FF2B5EF4-FFF2-40B4-BE49-F238E27FC236}">
                <a16:creationId xmlns:a16="http://schemas.microsoft.com/office/drawing/2014/main" id="{B157E241-BE71-476B-9691-C8EA72C6BB9B}"/>
              </a:ext>
            </a:extLst>
          </p:cNvPr>
          <p:cNvSpPr/>
          <p:nvPr/>
        </p:nvSpPr>
        <p:spPr>
          <a:xfrm>
            <a:off x="1066800" y="141732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08D8B5-C356-4D62-8410-5A3E3D38768E}"/>
              </a:ext>
            </a:extLst>
          </p:cNvPr>
          <p:cNvSpPr/>
          <p:nvPr/>
        </p:nvSpPr>
        <p:spPr>
          <a:xfrm>
            <a:off x="1066800" y="1417320"/>
            <a:ext cx="64008" cy="1920240"/>
          </a:xfrm>
          <a:prstGeom prst="rect">
            <a:avLst/>
          </a:prstGeom>
          <a:solidFill>
            <a:srgbClr val="1B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/>
          </a:p>
        </p:txBody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242CA0CA-E04A-430C-A717-E0E40F629AD6}"/>
              </a:ext>
            </a:extLst>
          </p:cNvPr>
          <p:cNvSpPr txBox="1"/>
          <p:nvPr/>
        </p:nvSpPr>
        <p:spPr>
          <a:xfrm>
            <a:off x="1267968" y="1581912"/>
            <a:ext cx="139172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8374B"/>
                </a:solidFill>
                <a:latin typeface="Aptos"/>
              </a:defRPr>
            </a:pPr>
            <a:r>
              <a:rPr sz="1400"/>
              <a:t>THE CHALLENGE</a:t>
            </a:r>
          </a:p>
        </p:txBody>
      </p:sp>
      <p:sp>
        <p:nvSpPr>
          <p:cNvPr id="32" name="TextBox 8">
            <a:extLst>
              <a:ext uri="{FF2B5EF4-FFF2-40B4-BE49-F238E27FC236}">
                <a16:creationId xmlns:a16="http://schemas.microsoft.com/office/drawing/2014/main" id="{20F0DDAD-3D96-417D-A207-8E0C4164D7B0}"/>
              </a:ext>
            </a:extLst>
          </p:cNvPr>
          <p:cNvSpPr txBox="1"/>
          <p:nvPr/>
        </p:nvSpPr>
        <p:spPr>
          <a:xfrm>
            <a:off x="1267968" y="1984248"/>
            <a:ext cx="3211713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 err="1"/>
              <a:t>HealthConnect</a:t>
            </a:r>
            <a:r>
              <a:rPr sz="1400" dirty="0"/>
              <a:t> has a high level of missed </a:t>
            </a:r>
            <a:endParaRPr lang="en-US" sz="1400" dirty="0"/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appointments, which can affect clinic </a:t>
            </a:r>
            <a:endParaRPr lang="en-US" sz="1400" dirty="0"/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capacity,</a:t>
            </a:r>
            <a:r>
              <a:rPr lang="en-US" sz="1400" dirty="0"/>
              <a:t> </a:t>
            </a:r>
            <a:r>
              <a:rPr sz="1400" dirty="0"/>
              <a:t>patient access and operational</a:t>
            </a:r>
            <a:endParaRPr lang="en-US" sz="1400" dirty="0"/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 efficiency.</a:t>
            </a:r>
          </a:p>
        </p:txBody>
      </p:sp>
      <p:sp>
        <p:nvSpPr>
          <p:cNvPr id="35" name="Rounded Rectangle 9">
            <a:extLst>
              <a:ext uri="{FF2B5EF4-FFF2-40B4-BE49-F238E27FC236}">
                <a16:creationId xmlns:a16="http://schemas.microsoft.com/office/drawing/2014/main" id="{9DA58AC5-AB67-4C73-B2CC-7696F6A60298}"/>
              </a:ext>
            </a:extLst>
          </p:cNvPr>
          <p:cNvSpPr/>
          <p:nvPr/>
        </p:nvSpPr>
        <p:spPr>
          <a:xfrm>
            <a:off x="4742688" y="141732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25B2015-AFBE-41B8-92A3-863A3BFFE4E6}"/>
              </a:ext>
            </a:extLst>
          </p:cNvPr>
          <p:cNvSpPr/>
          <p:nvPr/>
        </p:nvSpPr>
        <p:spPr>
          <a:xfrm>
            <a:off x="4742688" y="1417320"/>
            <a:ext cx="64008" cy="1920240"/>
          </a:xfrm>
          <a:prstGeom prst="rect">
            <a:avLst/>
          </a:prstGeom>
          <a:solidFill>
            <a:srgbClr val="27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/>
          </a:p>
        </p:txBody>
      </p:sp>
      <p:sp>
        <p:nvSpPr>
          <p:cNvPr id="37" name="TextBox 11">
            <a:extLst>
              <a:ext uri="{FF2B5EF4-FFF2-40B4-BE49-F238E27FC236}">
                <a16:creationId xmlns:a16="http://schemas.microsoft.com/office/drawing/2014/main" id="{A246EB8F-527B-42BA-847F-EB5B03031CCA}"/>
              </a:ext>
            </a:extLst>
          </p:cNvPr>
          <p:cNvSpPr txBox="1"/>
          <p:nvPr/>
        </p:nvSpPr>
        <p:spPr>
          <a:xfrm>
            <a:off x="4943856" y="1581912"/>
            <a:ext cx="152849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8374B"/>
                </a:solidFill>
                <a:latin typeface="Aptos"/>
              </a:defRPr>
            </a:pPr>
            <a:r>
              <a:rPr sz="1400"/>
              <a:t>ANALYTICS FOCUS</a:t>
            </a:r>
          </a:p>
        </p:txBody>
      </p:sp>
      <p:sp>
        <p:nvSpPr>
          <p:cNvPr id="38" name="TextBox 12">
            <a:extLst>
              <a:ext uri="{FF2B5EF4-FFF2-40B4-BE49-F238E27FC236}">
                <a16:creationId xmlns:a16="http://schemas.microsoft.com/office/drawing/2014/main" id="{010F26A3-4695-4CBD-957E-8821A4698DFC}"/>
              </a:ext>
            </a:extLst>
          </p:cNvPr>
          <p:cNvSpPr txBox="1"/>
          <p:nvPr/>
        </p:nvSpPr>
        <p:spPr>
          <a:xfrm>
            <a:off x="4943856" y="1984248"/>
            <a:ext cx="2824491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Understand patterns in attendance, </a:t>
            </a:r>
            <a:endParaRPr lang="en-US" sz="1400" dirty="0"/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lang="en-US" sz="1400" dirty="0"/>
              <a:t>C</a:t>
            </a:r>
            <a:r>
              <a:rPr sz="1400" dirty="0"/>
              <a:t>ancellations</a:t>
            </a:r>
            <a:r>
              <a:rPr lang="en-US" sz="1400" dirty="0"/>
              <a:t> </a:t>
            </a:r>
            <a:r>
              <a:rPr sz="1400" dirty="0"/>
              <a:t>and no-shows and </a:t>
            </a:r>
            <a:endParaRPr lang="en-US" sz="1400" dirty="0"/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identify factors associated with</a:t>
            </a:r>
            <a:r>
              <a:rPr lang="en-US" sz="1400" dirty="0"/>
              <a:t> </a:t>
            </a:r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missed appointments.</a:t>
            </a:r>
          </a:p>
        </p:txBody>
      </p:sp>
      <p:sp>
        <p:nvSpPr>
          <p:cNvPr id="39" name="Rounded Rectangle 13">
            <a:extLst>
              <a:ext uri="{FF2B5EF4-FFF2-40B4-BE49-F238E27FC236}">
                <a16:creationId xmlns:a16="http://schemas.microsoft.com/office/drawing/2014/main" id="{C5B21F49-C06A-4D10-945C-43C3685DB685}"/>
              </a:ext>
            </a:extLst>
          </p:cNvPr>
          <p:cNvSpPr/>
          <p:nvPr/>
        </p:nvSpPr>
        <p:spPr>
          <a:xfrm>
            <a:off x="8418576" y="141732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514B84B-F3E6-405F-87F7-9DDA35F09AD9}"/>
              </a:ext>
            </a:extLst>
          </p:cNvPr>
          <p:cNvSpPr/>
          <p:nvPr/>
        </p:nvSpPr>
        <p:spPr>
          <a:xfrm>
            <a:off x="8418576" y="1417320"/>
            <a:ext cx="64008" cy="1920240"/>
          </a:xfrm>
          <a:prstGeom prst="rect">
            <a:avLst/>
          </a:prstGeom>
          <a:solidFill>
            <a:srgbClr val="1B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/>
          </a:p>
        </p:txBody>
      </p:sp>
      <p:sp>
        <p:nvSpPr>
          <p:cNvPr id="41" name="TextBox 15">
            <a:extLst>
              <a:ext uri="{FF2B5EF4-FFF2-40B4-BE49-F238E27FC236}">
                <a16:creationId xmlns:a16="http://schemas.microsoft.com/office/drawing/2014/main" id="{DCE07E38-AF84-46C7-B771-A7959A51C965}"/>
              </a:ext>
            </a:extLst>
          </p:cNvPr>
          <p:cNvSpPr txBox="1"/>
          <p:nvPr/>
        </p:nvSpPr>
        <p:spPr>
          <a:xfrm>
            <a:off x="8619744" y="1581912"/>
            <a:ext cx="147431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8374B"/>
                </a:solidFill>
                <a:latin typeface="Aptos"/>
              </a:defRPr>
            </a:pPr>
            <a:r>
              <a:rPr sz="1400"/>
              <a:t>WHY IT MATTERS</a:t>
            </a:r>
          </a:p>
        </p:txBody>
      </p:sp>
      <p:sp>
        <p:nvSpPr>
          <p:cNvPr id="42" name="TextBox 16">
            <a:extLst>
              <a:ext uri="{FF2B5EF4-FFF2-40B4-BE49-F238E27FC236}">
                <a16:creationId xmlns:a16="http://schemas.microsoft.com/office/drawing/2014/main" id="{E2D25532-C2FB-4ECF-93DC-1D93E911EF99}"/>
              </a:ext>
            </a:extLst>
          </p:cNvPr>
          <p:cNvSpPr txBox="1"/>
          <p:nvPr/>
        </p:nvSpPr>
        <p:spPr>
          <a:xfrm>
            <a:off x="8619744" y="1984248"/>
            <a:ext cx="3216330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Evidence from the analysis can support</a:t>
            </a:r>
            <a:r>
              <a:rPr lang="en-US" sz="1400" dirty="0"/>
              <a:t> </a:t>
            </a:r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future strategies to improve appointment</a:t>
            </a:r>
            <a:endParaRPr lang="en-US" sz="1400" dirty="0"/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attendance and patient support.</a:t>
            </a:r>
          </a:p>
        </p:txBody>
      </p:sp>
      <p:sp>
        <p:nvSpPr>
          <p:cNvPr id="43" name="TextBox 17">
            <a:extLst>
              <a:ext uri="{FF2B5EF4-FFF2-40B4-BE49-F238E27FC236}">
                <a16:creationId xmlns:a16="http://schemas.microsoft.com/office/drawing/2014/main" id="{EF138A32-2670-4D02-8F56-748C4C1C0583}"/>
              </a:ext>
            </a:extLst>
          </p:cNvPr>
          <p:cNvSpPr txBox="1"/>
          <p:nvPr/>
        </p:nvSpPr>
        <p:spPr>
          <a:xfrm>
            <a:off x="929640" y="4522940"/>
            <a:ext cx="11443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1">
                <a:solidFill>
                  <a:srgbClr val="1B5F87"/>
                </a:solidFill>
                <a:latin typeface="Aptos"/>
              </a:defRPr>
            </a:pPr>
            <a:r>
              <a:rPr sz="1400" dirty="0"/>
              <a:t>Key question</a:t>
            </a:r>
          </a:p>
        </p:txBody>
      </p:sp>
      <p:sp>
        <p:nvSpPr>
          <p:cNvPr id="44" name="TextBox 18">
            <a:extLst>
              <a:ext uri="{FF2B5EF4-FFF2-40B4-BE49-F238E27FC236}">
                <a16:creationId xmlns:a16="http://schemas.microsoft.com/office/drawing/2014/main" id="{7345ECB1-7A57-4369-9D0D-9EECAED133AD}"/>
              </a:ext>
            </a:extLst>
          </p:cNvPr>
          <p:cNvSpPr txBox="1"/>
          <p:nvPr/>
        </p:nvSpPr>
        <p:spPr>
          <a:xfrm>
            <a:off x="947928" y="4922145"/>
            <a:ext cx="1176803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000" b="1">
                <a:solidFill>
                  <a:srgbClr val="18374B"/>
                </a:solidFill>
                <a:latin typeface="Aptos"/>
              </a:defRPr>
            </a:pPr>
            <a:r>
              <a:rPr sz="2400" dirty="0"/>
              <a:t>What factors are associated with patients attending, cancelling, or missing their scheduled </a:t>
            </a:r>
            <a:endParaRPr lang="en-US" sz="2400" dirty="0"/>
          </a:p>
          <a:p>
            <a:pPr algn="l">
              <a:defRPr sz="2000" b="1">
                <a:solidFill>
                  <a:srgbClr val="18374B"/>
                </a:solidFill>
                <a:latin typeface="Aptos"/>
              </a:defRPr>
            </a:pPr>
            <a:r>
              <a:rPr sz="2400" dirty="0"/>
              <a:t>appointments?</a:t>
            </a:r>
          </a:p>
        </p:txBody>
      </p:sp>
    </p:spTree>
    <p:extLst>
      <p:ext uri="{BB962C8B-B14F-4D97-AF65-F5344CB8AC3E}">
        <p14:creationId xmlns:p14="http://schemas.microsoft.com/office/powerpoint/2010/main" val="2036724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9D4A527-E279-45C3-895C-DB4108F4698D}"/>
              </a:ext>
            </a:extLst>
          </p:cNvPr>
          <p:cNvSpPr/>
          <p:nvPr/>
        </p:nvSpPr>
        <p:spPr>
          <a:xfrm>
            <a:off x="14954" y="-1502656"/>
            <a:ext cx="146304" cy="8360656"/>
          </a:xfrm>
          <a:prstGeom prst="rect">
            <a:avLst/>
          </a:prstGeom>
          <a:solidFill>
            <a:srgbClr val="1B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CF2F1282-FC67-4839-84AE-57350CE02A01}"/>
              </a:ext>
            </a:extLst>
          </p:cNvPr>
          <p:cNvSpPr txBox="1"/>
          <p:nvPr/>
        </p:nvSpPr>
        <p:spPr>
          <a:xfrm>
            <a:off x="929640" y="347472"/>
            <a:ext cx="326339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 b="1">
                <a:solidFill>
                  <a:srgbClr val="18374B"/>
                </a:solidFill>
                <a:latin typeface="Aptos"/>
              </a:defRPr>
            </a:pPr>
            <a:r>
              <a:rPr sz="3200" dirty="0"/>
              <a:t>2. Resources Used</a:t>
            </a: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0BA6DB2F-A8C0-4765-831B-7005C3AAE2AB}"/>
              </a:ext>
            </a:extLst>
          </p:cNvPr>
          <p:cNvSpPr txBox="1"/>
          <p:nvPr/>
        </p:nvSpPr>
        <p:spPr>
          <a:xfrm>
            <a:off x="947928" y="896112"/>
            <a:ext cx="375160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50" b="0">
                <a:solidFill>
                  <a:srgbClr val="5E6A74"/>
                </a:solidFill>
                <a:latin typeface="Aptos"/>
              </a:defRPr>
            </a:pPr>
            <a:r>
              <a:rPr sz="1400" dirty="0"/>
              <a:t>Resources and tools supporting the Week 4 work</a:t>
            </a:r>
          </a:p>
        </p:txBody>
      </p:sp>
      <p:sp>
        <p:nvSpPr>
          <p:cNvPr id="20" name="Rounded Rectangle 5">
            <a:extLst>
              <a:ext uri="{FF2B5EF4-FFF2-40B4-BE49-F238E27FC236}">
                <a16:creationId xmlns:a16="http://schemas.microsoft.com/office/drawing/2014/main" id="{AE3DFEC4-1487-486D-B5EC-A92AD54248A7}"/>
              </a:ext>
            </a:extLst>
          </p:cNvPr>
          <p:cNvSpPr/>
          <p:nvPr/>
        </p:nvSpPr>
        <p:spPr>
          <a:xfrm>
            <a:off x="1066800" y="1015331"/>
            <a:ext cx="5212080" cy="1727869"/>
          </a:xfrm>
          <a:prstGeom prst="roundRect">
            <a:avLst/>
          </a:prstGeom>
          <a:solidFill>
            <a:srgbClr val="FFFFFF"/>
          </a:solidFill>
          <a:ln>
            <a:solidFill>
              <a:srgbClr val="E0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D05923-C570-48D8-88A7-F71134370FFE}"/>
              </a:ext>
            </a:extLst>
          </p:cNvPr>
          <p:cNvSpPr/>
          <p:nvPr/>
        </p:nvSpPr>
        <p:spPr>
          <a:xfrm>
            <a:off x="1066800" y="1015331"/>
            <a:ext cx="64008" cy="1727869"/>
          </a:xfrm>
          <a:prstGeom prst="rect">
            <a:avLst/>
          </a:prstGeom>
          <a:solidFill>
            <a:srgbClr val="1B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3C4AC7E7-7A4B-4DAF-AB7F-F5E611CACC9E}"/>
              </a:ext>
            </a:extLst>
          </p:cNvPr>
          <p:cNvSpPr txBox="1"/>
          <p:nvPr/>
        </p:nvSpPr>
        <p:spPr>
          <a:xfrm>
            <a:off x="1267968" y="1490472"/>
            <a:ext cx="37847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8374B"/>
                </a:solidFill>
                <a:latin typeface="Aptos"/>
              </a:defRPr>
            </a:pPr>
            <a:r>
              <a:rPr sz="1600"/>
              <a:t>HEALTHCONNECT APPOINTMENT DATASET</a:t>
            </a:r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id="{7485AE57-E354-4970-ADEC-ABA0A340C528}"/>
              </a:ext>
            </a:extLst>
          </p:cNvPr>
          <p:cNvSpPr txBox="1"/>
          <p:nvPr/>
        </p:nvSpPr>
        <p:spPr>
          <a:xfrm>
            <a:off x="1267968" y="1892807"/>
            <a:ext cx="515339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600" dirty="0"/>
              <a:t>Primary source for examining appointment outcomes,</a:t>
            </a:r>
            <a:endParaRPr lang="en-US" sz="1600" dirty="0"/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600" dirty="0"/>
              <a:t>patient characteristics, reminders and appointment-related </a:t>
            </a:r>
            <a:endParaRPr lang="en-US" sz="1600" dirty="0"/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600" dirty="0"/>
              <a:t>factors.</a:t>
            </a:r>
          </a:p>
        </p:txBody>
      </p:sp>
      <p:sp>
        <p:nvSpPr>
          <p:cNvPr id="28" name="Rounded Rectangle 9">
            <a:extLst>
              <a:ext uri="{FF2B5EF4-FFF2-40B4-BE49-F238E27FC236}">
                <a16:creationId xmlns:a16="http://schemas.microsoft.com/office/drawing/2014/main" id="{07F5E214-5AF4-40A3-BD1B-E55496842BF4}"/>
              </a:ext>
            </a:extLst>
          </p:cNvPr>
          <p:cNvSpPr/>
          <p:nvPr/>
        </p:nvSpPr>
        <p:spPr>
          <a:xfrm>
            <a:off x="6534912" y="1015331"/>
            <a:ext cx="5212080" cy="1727869"/>
          </a:xfrm>
          <a:prstGeom prst="roundRect">
            <a:avLst/>
          </a:prstGeom>
          <a:solidFill>
            <a:srgbClr val="FFFFFF"/>
          </a:solidFill>
          <a:ln>
            <a:solidFill>
              <a:srgbClr val="E0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8A2AC47-1742-44AE-924C-0DB42049DE98}"/>
              </a:ext>
            </a:extLst>
          </p:cNvPr>
          <p:cNvSpPr/>
          <p:nvPr/>
        </p:nvSpPr>
        <p:spPr>
          <a:xfrm>
            <a:off x="6534912" y="1015331"/>
            <a:ext cx="64008" cy="1727869"/>
          </a:xfrm>
          <a:prstGeom prst="rect">
            <a:avLst/>
          </a:prstGeom>
          <a:solidFill>
            <a:srgbClr val="27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31" name="TextBox 11">
            <a:extLst>
              <a:ext uri="{FF2B5EF4-FFF2-40B4-BE49-F238E27FC236}">
                <a16:creationId xmlns:a16="http://schemas.microsoft.com/office/drawing/2014/main" id="{E1DB6D86-E392-4773-B382-A3B0094E72AD}"/>
              </a:ext>
            </a:extLst>
          </p:cNvPr>
          <p:cNvSpPr txBox="1"/>
          <p:nvPr/>
        </p:nvSpPr>
        <p:spPr>
          <a:xfrm>
            <a:off x="6736080" y="1490472"/>
            <a:ext cx="326743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8374B"/>
                </a:solidFill>
                <a:latin typeface="Aptos"/>
              </a:defRPr>
            </a:pPr>
            <a:r>
              <a:rPr sz="1600"/>
              <a:t>HEALTHCONNECT DATA DICTIONARY</a:t>
            </a:r>
          </a:p>
        </p:txBody>
      </p:sp>
      <p:sp>
        <p:nvSpPr>
          <p:cNvPr id="33" name="TextBox 12">
            <a:extLst>
              <a:ext uri="{FF2B5EF4-FFF2-40B4-BE49-F238E27FC236}">
                <a16:creationId xmlns:a16="http://schemas.microsoft.com/office/drawing/2014/main" id="{7469532E-310B-48B2-89EB-5450E41C4751}"/>
              </a:ext>
            </a:extLst>
          </p:cNvPr>
          <p:cNvSpPr txBox="1"/>
          <p:nvPr/>
        </p:nvSpPr>
        <p:spPr>
          <a:xfrm>
            <a:off x="6736080" y="1892807"/>
            <a:ext cx="505208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600" dirty="0"/>
              <a:t>Used to understand variable definitions, structure and the </a:t>
            </a:r>
            <a:endParaRPr lang="en-US" sz="1600" dirty="0"/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600" dirty="0"/>
              <a:t>meaning of fields before analysis.</a:t>
            </a:r>
          </a:p>
        </p:txBody>
      </p:sp>
      <p:sp>
        <p:nvSpPr>
          <p:cNvPr id="34" name="Rounded Rectangle 13">
            <a:extLst>
              <a:ext uri="{FF2B5EF4-FFF2-40B4-BE49-F238E27FC236}">
                <a16:creationId xmlns:a16="http://schemas.microsoft.com/office/drawing/2014/main" id="{62C020DF-829F-48A5-9EAE-6718528D42AF}"/>
              </a:ext>
            </a:extLst>
          </p:cNvPr>
          <p:cNvSpPr/>
          <p:nvPr/>
        </p:nvSpPr>
        <p:spPr>
          <a:xfrm>
            <a:off x="1066800" y="2662532"/>
            <a:ext cx="3383280" cy="2229508"/>
          </a:xfrm>
          <a:prstGeom prst="roundRect">
            <a:avLst/>
          </a:prstGeom>
          <a:solidFill>
            <a:srgbClr val="FFFFFF"/>
          </a:solidFill>
          <a:ln>
            <a:solidFill>
              <a:srgbClr val="E0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08288B7-1EF0-4062-A2F9-3E12995E5C01}"/>
              </a:ext>
            </a:extLst>
          </p:cNvPr>
          <p:cNvSpPr/>
          <p:nvPr/>
        </p:nvSpPr>
        <p:spPr>
          <a:xfrm>
            <a:off x="1066800" y="2662532"/>
            <a:ext cx="64008" cy="2229508"/>
          </a:xfrm>
          <a:prstGeom prst="rect">
            <a:avLst/>
          </a:prstGeom>
          <a:solidFill>
            <a:srgbClr val="1B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38" name="TextBox 15">
            <a:extLst>
              <a:ext uri="{FF2B5EF4-FFF2-40B4-BE49-F238E27FC236}">
                <a16:creationId xmlns:a16="http://schemas.microsoft.com/office/drawing/2014/main" id="{8D69527D-6FD6-439F-A8BC-4A97AEA44075}"/>
              </a:ext>
            </a:extLst>
          </p:cNvPr>
          <p:cNvSpPr txBox="1"/>
          <p:nvPr/>
        </p:nvSpPr>
        <p:spPr>
          <a:xfrm>
            <a:off x="1267968" y="3227832"/>
            <a:ext cx="68582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8374B"/>
                </a:solidFill>
                <a:latin typeface="Aptos"/>
              </a:defRPr>
            </a:pPr>
            <a:r>
              <a:rPr sz="1600"/>
              <a:t>EXCEL</a:t>
            </a:r>
          </a:p>
        </p:txBody>
      </p:sp>
      <p:sp>
        <p:nvSpPr>
          <p:cNvPr id="39" name="TextBox 16">
            <a:extLst>
              <a:ext uri="{FF2B5EF4-FFF2-40B4-BE49-F238E27FC236}">
                <a16:creationId xmlns:a16="http://schemas.microsoft.com/office/drawing/2014/main" id="{0693BA33-EE45-4728-82A2-CC3E772D13EF}"/>
              </a:ext>
            </a:extLst>
          </p:cNvPr>
          <p:cNvSpPr txBox="1"/>
          <p:nvPr/>
        </p:nvSpPr>
        <p:spPr>
          <a:xfrm>
            <a:off x="1267968" y="3630168"/>
            <a:ext cx="338938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600" dirty="0"/>
              <a:t>Initial data inspection, validation and </a:t>
            </a:r>
            <a:endParaRPr lang="en-US" sz="1600" dirty="0"/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600" dirty="0"/>
              <a:t>identification of potential data-quality </a:t>
            </a:r>
            <a:endParaRPr lang="en-US" sz="1600" dirty="0"/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600" dirty="0"/>
              <a:t>issues.</a:t>
            </a:r>
          </a:p>
        </p:txBody>
      </p:sp>
      <p:sp>
        <p:nvSpPr>
          <p:cNvPr id="40" name="Rounded Rectangle 17">
            <a:extLst>
              <a:ext uri="{FF2B5EF4-FFF2-40B4-BE49-F238E27FC236}">
                <a16:creationId xmlns:a16="http://schemas.microsoft.com/office/drawing/2014/main" id="{A9430D25-1829-4E09-800A-ED3D95C571E1}"/>
              </a:ext>
            </a:extLst>
          </p:cNvPr>
          <p:cNvSpPr/>
          <p:nvPr/>
        </p:nvSpPr>
        <p:spPr>
          <a:xfrm>
            <a:off x="4742688" y="2662532"/>
            <a:ext cx="3383280" cy="2229508"/>
          </a:xfrm>
          <a:prstGeom prst="roundRect">
            <a:avLst/>
          </a:prstGeom>
          <a:solidFill>
            <a:srgbClr val="FFFFFF"/>
          </a:solidFill>
          <a:ln>
            <a:solidFill>
              <a:srgbClr val="E0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18DE400-80BB-4B2D-AED1-BE4D292E40E5}"/>
              </a:ext>
            </a:extLst>
          </p:cNvPr>
          <p:cNvSpPr/>
          <p:nvPr/>
        </p:nvSpPr>
        <p:spPr>
          <a:xfrm>
            <a:off x="4742688" y="2662532"/>
            <a:ext cx="64008" cy="2229508"/>
          </a:xfrm>
          <a:prstGeom prst="rect">
            <a:avLst/>
          </a:prstGeom>
          <a:solidFill>
            <a:srgbClr val="27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42" name="TextBox 19">
            <a:extLst>
              <a:ext uri="{FF2B5EF4-FFF2-40B4-BE49-F238E27FC236}">
                <a16:creationId xmlns:a16="http://schemas.microsoft.com/office/drawing/2014/main" id="{F4146A4E-ADF1-4F9A-BA82-C8AFA341F0E7}"/>
              </a:ext>
            </a:extLst>
          </p:cNvPr>
          <p:cNvSpPr txBox="1"/>
          <p:nvPr/>
        </p:nvSpPr>
        <p:spPr>
          <a:xfrm>
            <a:off x="4943856" y="3227832"/>
            <a:ext cx="51007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8374B"/>
                </a:solidFill>
                <a:latin typeface="Aptos"/>
              </a:defRPr>
            </a:pPr>
            <a:r>
              <a:rPr sz="1600"/>
              <a:t>SQL</a:t>
            </a:r>
          </a:p>
        </p:txBody>
      </p:sp>
      <p:sp>
        <p:nvSpPr>
          <p:cNvPr id="43" name="TextBox 20">
            <a:extLst>
              <a:ext uri="{FF2B5EF4-FFF2-40B4-BE49-F238E27FC236}">
                <a16:creationId xmlns:a16="http://schemas.microsoft.com/office/drawing/2014/main" id="{C71B3344-F0C0-44D7-9A3B-F1800FB35A06}"/>
              </a:ext>
            </a:extLst>
          </p:cNvPr>
          <p:cNvSpPr txBox="1"/>
          <p:nvPr/>
        </p:nvSpPr>
        <p:spPr>
          <a:xfrm>
            <a:off x="4943856" y="3630168"/>
            <a:ext cx="304980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600" dirty="0"/>
              <a:t>Querying the dataset, exploring </a:t>
            </a:r>
            <a:endParaRPr lang="en-US" sz="1600" dirty="0"/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600" dirty="0"/>
              <a:t>patterns and generating summary </a:t>
            </a:r>
            <a:endParaRPr lang="en-US" sz="1600" dirty="0"/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600" dirty="0"/>
              <a:t>information.</a:t>
            </a:r>
          </a:p>
        </p:txBody>
      </p:sp>
      <p:sp>
        <p:nvSpPr>
          <p:cNvPr id="44" name="Rounded Rectangle 21">
            <a:extLst>
              <a:ext uri="{FF2B5EF4-FFF2-40B4-BE49-F238E27FC236}">
                <a16:creationId xmlns:a16="http://schemas.microsoft.com/office/drawing/2014/main" id="{57F0E835-E30A-40EF-8075-3C9EE3306C27}"/>
              </a:ext>
            </a:extLst>
          </p:cNvPr>
          <p:cNvSpPr/>
          <p:nvPr/>
        </p:nvSpPr>
        <p:spPr>
          <a:xfrm>
            <a:off x="8418576" y="2662532"/>
            <a:ext cx="3383280" cy="2229508"/>
          </a:xfrm>
          <a:prstGeom prst="roundRect">
            <a:avLst/>
          </a:prstGeom>
          <a:solidFill>
            <a:srgbClr val="FFFFFF"/>
          </a:solidFill>
          <a:ln>
            <a:solidFill>
              <a:srgbClr val="E0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C38806E-E36A-41C5-AD3E-62979220DABD}"/>
              </a:ext>
            </a:extLst>
          </p:cNvPr>
          <p:cNvSpPr/>
          <p:nvPr/>
        </p:nvSpPr>
        <p:spPr>
          <a:xfrm>
            <a:off x="8418576" y="2662532"/>
            <a:ext cx="64008" cy="2229508"/>
          </a:xfrm>
          <a:prstGeom prst="rect">
            <a:avLst/>
          </a:prstGeom>
          <a:solidFill>
            <a:srgbClr val="1B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46" name="TextBox 23">
            <a:extLst>
              <a:ext uri="{FF2B5EF4-FFF2-40B4-BE49-F238E27FC236}">
                <a16:creationId xmlns:a16="http://schemas.microsoft.com/office/drawing/2014/main" id="{526F8BEE-EBF6-4C8B-AD0C-A62E2F67DAAF}"/>
              </a:ext>
            </a:extLst>
          </p:cNvPr>
          <p:cNvSpPr txBox="1"/>
          <p:nvPr/>
        </p:nvSpPr>
        <p:spPr>
          <a:xfrm>
            <a:off x="8619744" y="3227832"/>
            <a:ext cx="104778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8374B"/>
                </a:solidFill>
                <a:latin typeface="Aptos"/>
              </a:defRPr>
            </a:pPr>
            <a:r>
              <a:rPr sz="1600"/>
              <a:t>POWER BI</a:t>
            </a:r>
          </a:p>
        </p:txBody>
      </p:sp>
      <p:sp>
        <p:nvSpPr>
          <p:cNvPr id="47" name="TextBox 24">
            <a:extLst>
              <a:ext uri="{FF2B5EF4-FFF2-40B4-BE49-F238E27FC236}">
                <a16:creationId xmlns:a16="http://schemas.microsoft.com/office/drawing/2014/main" id="{D8E249CF-1AA0-42DB-99C9-D8A170AA6BC5}"/>
              </a:ext>
            </a:extLst>
          </p:cNvPr>
          <p:cNvSpPr txBox="1"/>
          <p:nvPr/>
        </p:nvSpPr>
        <p:spPr>
          <a:xfrm>
            <a:off x="8619744" y="3630168"/>
            <a:ext cx="332418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600" dirty="0"/>
              <a:t>Data modelling, DAX calculations, KPI </a:t>
            </a:r>
            <a:endParaRPr lang="en-US" sz="1600" dirty="0"/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600" dirty="0"/>
              <a:t>development and interactive data </a:t>
            </a:r>
            <a:endParaRPr lang="en-US" sz="1600" dirty="0"/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600" dirty="0" err="1"/>
              <a:t>visualisation</a:t>
            </a:r>
            <a:r>
              <a:rPr sz="1600" dirty="0"/>
              <a:t>.</a:t>
            </a:r>
          </a:p>
        </p:txBody>
      </p:sp>
      <p:sp>
        <p:nvSpPr>
          <p:cNvPr id="48" name="TextBox 25">
            <a:extLst>
              <a:ext uri="{FF2B5EF4-FFF2-40B4-BE49-F238E27FC236}">
                <a16:creationId xmlns:a16="http://schemas.microsoft.com/office/drawing/2014/main" id="{123B275F-7AFB-454B-A224-341A7EB21F76}"/>
              </a:ext>
            </a:extLst>
          </p:cNvPr>
          <p:cNvSpPr txBox="1"/>
          <p:nvPr/>
        </p:nvSpPr>
        <p:spPr>
          <a:xfrm>
            <a:off x="4121851" y="5440680"/>
            <a:ext cx="44969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18374B"/>
                </a:solidFill>
                <a:latin typeface="Aptos"/>
              </a:defRPr>
            </a:pPr>
            <a:r>
              <a:t>Resources → Data preparation → Analysis → Visualisation</a:t>
            </a:r>
          </a:p>
        </p:txBody>
      </p:sp>
    </p:spTree>
    <p:extLst>
      <p:ext uri="{BB962C8B-B14F-4D97-AF65-F5344CB8AC3E}">
        <p14:creationId xmlns:p14="http://schemas.microsoft.com/office/powerpoint/2010/main" val="1439070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720505E-80A2-448A-A9C7-D318BB992CAB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id="{364AC90B-5A17-40DF-AED1-FD93B24D923D}"/>
              </a:ext>
            </a:extLst>
          </p:cNvPr>
          <p:cNvSpPr txBox="1"/>
          <p:nvPr/>
        </p:nvSpPr>
        <p:spPr>
          <a:xfrm>
            <a:off x="594360" y="347472"/>
            <a:ext cx="583146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 b="1">
                <a:solidFill>
                  <a:srgbClr val="18374B"/>
                </a:solidFill>
                <a:latin typeface="Aptos"/>
              </a:defRPr>
            </a:pPr>
            <a:r>
              <a:rPr sz="3200" dirty="0"/>
              <a:t>3. Key Observations from Week 4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CB8E9066-2360-4882-A6A4-C1E53359270C}"/>
              </a:ext>
            </a:extLst>
          </p:cNvPr>
          <p:cNvSpPr txBox="1"/>
          <p:nvPr/>
        </p:nvSpPr>
        <p:spPr>
          <a:xfrm>
            <a:off x="612648" y="896112"/>
            <a:ext cx="290457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50" b="0">
                <a:solidFill>
                  <a:srgbClr val="5E6A74"/>
                </a:solidFill>
                <a:latin typeface="Aptos"/>
              </a:defRPr>
            </a:pPr>
            <a:r>
              <a:rPr sz="1200"/>
              <a:t>Initial observations from the dataset review</a:t>
            </a:r>
          </a:p>
        </p:txBody>
      </p:sp>
      <p:sp>
        <p:nvSpPr>
          <p:cNvPr id="26" name="Rounded Rectangle 5">
            <a:extLst>
              <a:ext uri="{FF2B5EF4-FFF2-40B4-BE49-F238E27FC236}">
                <a16:creationId xmlns:a16="http://schemas.microsoft.com/office/drawing/2014/main" id="{2E8E10C8-07E6-427D-8DAD-2CDA99D41D07}"/>
              </a:ext>
            </a:extLst>
          </p:cNvPr>
          <p:cNvSpPr/>
          <p:nvPr/>
        </p:nvSpPr>
        <p:spPr>
          <a:xfrm>
            <a:off x="594360" y="123444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27" name="TextBox 6">
            <a:extLst>
              <a:ext uri="{FF2B5EF4-FFF2-40B4-BE49-F238E27FC236}">
                <a16:creationId xmlns:a16="http://schemas.microsoft.com/office/drawing/2014/main" id="{EB3432B9-F95E-48A2-B9F8-5D409349A324}"/>
              </a:ext>
            </a:extLst>
          </p:cNvPr>
          <p:cNvSpPr txBox="1"/>
          <p:nvPr/>
        </p:nvSpPr>
        <p:spPr>
          <a:xfrm>
            <a:off x="1022743" y="1399032"/>
            <a:ext cx="100861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00" b="1">
                <a:solidFill>
                  <a:srgbClr val="1B5F87"/>
                </a:solidFill>
                <a:latin typeface="Aptos"/>
              </a:defRPr>
            </a:pPr>
            <a:r>
              <a:rPr sz="2800"/>
              <a:t>5,000</a:t>
            </a:r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DF8B41FB-682C-4059-A881-1644B6D4F9BD}"/>
              </a:ext>
            </a:extLst>
          </p:cNvPr>
          <p:cNvSpPr txBox="1"/>
          <p:nvPr/>
        </p:nvSpPr>
        <p:spPr>
          <a:xfrm>
            <a:off x="850420" y="1828800"/>
            <a:ext cx="1353256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950" b="0">
                <a:solidFill>
                  <a:srgbClr val="5E6A74"/>
                </a:solidFill>
                <a:latin typeface="Aptos"/>
              </a:defRPr>
            </a:pPr>
            <a:r>
              <a:rPr sz="1050" dirty="0"/>
              <a:t>Appointment records</a:t>
            </a:r>
          </a:p>
        </p:txBody>
      </p:sp>
      <p:sp>
        <p:nvSpPr>
          <p:cNvPr id="29" name="Rounded Rectangle 8">
            <a:extLst>
              <a:ext uri="{FF2B5EF4-FFF2-40B4-BE49-F238E27FC236}">
                <a16:creationId xmlns:a16="http://schemas.microsoft.com/office/drawing/2014/main" id="{6BDC06E7-4C9F-43AF-A262-6A03B3F7DC10}"/>
              </a:ext>
            </a:extLst>
          </p:cNvPr>
          <p:cNvSpPr/>
          <p:nvPr/>
        </p:nvSpPr>
        <p:spPr>
          <a:xfrm>
            <a:off x="2788920" y="123444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30" name="TextBox 9">
            <a:extLst>
              <a:ext uri="{FF2B5EF4-FFF2-40B4-BE49-F238E27FC236}">
                <a16:creationId xmlns:a16="http://schemas.microsoft.com/office/drawing/2014/main" id="{C43EE499-574E-4844-914C-2E73D17D52C5}"/>
              </a:ext>
            </a:extLst>
          </p:cNvPr>
          <p:cNvSpPr txBox="1"/>
          <p:nvPr/>
        </p:nvSpPr>
        <p:spPr>
          <a:xfrm>
            <a:off x="3217303" y="1399032"/>
            <a:ext cx="100861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00" b="1">
                <a:solidFill>
                  <a:srgbClr val="277E8C"/>
                </a:solidFill>
                <a:latin typeface="Aptos"/>
              </a:defRPr>
            </a:pPr>
            <a:r>
              <a:rPr sz="2800" dirty="0"/>
              <a:t>1,696</a:t>
            </a:r>
          </a:p>
        </p:txBody>
      </p:sp>
      <p:sp>
        <p:nvSpPr>
          <p:cNvPr id="31" name="TextBox 10">
            <a:extLst>
              <a:ext uri="{FF2B5EF4-FFF2-40B4-BE49-F238E27FC236}">
                <a16:creationId xmlns:a16="http://schemas.microsoft.com/office/drawing/2014/main" id="{81B6E633-0686-4656-9211-8772646600F5}"/>
              </a:ext>
            </a:extLst>
          </p:cNvPr>
          <p:cNvSpPr txBox="1"/>
          <p:nvPr/>
        </p:nvSpPr>
        <p:spPr>
          <a:xfrm>
            <a:off x="3193258" y="1828800"/>
            <a:ext cx="1056700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950" b="0">
                <a:solidFill>
                  <a:srgbClr val="5E6A74"/>
                </a:solidFill>
                <a:latin typeface="Aptos"/>
              </a:defRPr>
            </a:pPr>
            <a:r>
              <a:rPr sz="1050"/>
              <a:t>Unique patients</a:t>
            </a:r>
          </a:p>
        </p:txBody>
      </p:sp>
      <p:sp>
        <p:nvSpPr>
          <p:cNvPr id="32" name="Rounded Rectangle 11">
            <a:extLst>
              <a:ext uri="{FF2B5EF4-FFF2-40B4-BE49-F238E27FC236}">
                <a16:creationId xmlns:a16="http://schemas.microsoft.com/office/drawing/2014/main" id="{573EC84C-0BEE-4595-824C-3B262733D28B}"/>
              </a:ext>
            </a:extLst>
          </p:cNvPr>
          <p:cNvSpPr/>
          <p:nvPr/>
        </p:nvSpPr>
        <p:spPr>
          <a:xfrm>
            <a:off x="4983480" y="123444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33" name="TextBox 12">
            <a:extLst>
              <a:ext uri="{FF2B5EF4-FFF2-40B4-BE49-F238E27FC236}">
                <a16:creationId xmlns:a16="http://schemas.microsoft.com/office/drawing/2014/main" id="{7B1ED6E9-F943-4B39-9364-3DD09DD60510}"/>
              </a:ext>
            </a:extLst>
          </p:cNvPr>
          <p:cNvSpPr txBox="1"/>
          <p:nvPr/>
        </p:nvSpPr>
        <p:spPr>
          <a:xfrm>
            <a:off x="5279615" y="1399032"/>
            <a:ext cx="12731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00" b="1">
                <a:solidFill>
                  <a:srgbClr val="1B5F87"/>
                </a:solidFill>
                <a:latin typeface="Aptos"/>
              </a:defRPr>
            </a:pPr>
            <a:r>
              <a:rPr sz="2800"/>
              <a:t>48.46%</a:t>
            </a: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249F8D9A-BDDF-4856-B66D-544E561E97B7}"/>
              </a:ext>
            </a:extLst>
          </p:cNvPr>
          <p:cNvSpPr txBox="1"/>
          <p:nvPr/>
        </p:nvSpPr>
        <p:spPr>
          <a:xfrm>
            <a:off x="5579377" y="1828800"/>
            <a:ext cx="67358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950" b="0">
                <a:solidFill>
                  <a:srgbClr val="5E6A74"/>
                </a:solidFill>
                <a:latin typeface="Aptos"/>
              </a:defRPr>
            </a:pPr>
            <a:r>
              <a:rPr sz="1050"/>
              <a:t>No-show</a:t>
            </a:r>
          </a:p>
        </p:txBody>
      </p:sp>
      <p:sp>
        <p:nvSpPr>
          <p:cNvPr id="35" name="Rounded Rectangle 14">
            <a:extLst>
              <a:ext uri="{FF2B5EF4-FFF2-40B4-BE49-F238E27FC236}">
                <a16:creationId xmlns:a16="http://schemas.microsoft.com/office/drawing/2014/main" id="{EA68C9A2-6E50-411B-B3F1-E6CFA2A524BA}"/>
              </a:ext>
            </a:extLst>
          </p:cNvPr>
          <p:cNvSpPr/>
          <p:nvPr/>
        </p:nvSpPr>
        <p:spPr>
          <a:xfrm>
            <a:off x="7178040" y="123444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36" name="TextBox 15">
            <a:extLst>
              <a:ext uri="{FF2B5EF4-FFF2-40B4-BE49-F238E27FC236}">
                <a16:creationId xmlns:a16="http://schemas.microsoft.com/office/drawing/2014/main" id="{C6B2C341-9F01-48A8-9149-188995328901}"/>
              </a:ext>
            </a:extLst>
          </p:cNvPr>
          <p:cNvSpPr txBox="1"/>
          <p:nvPr/>
        </p:nvSpPr>
        <p:spPr>
          <a:xfrm>
            <a:off x="7474175" y="1399032"/>
            <a:ext cx="12731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00" b="1">
                <a:solidFill>
                  <a:srgbClr val="277E8C"/>
                </a:solidFill>
                <a:latin typeface="Aptos"/>
              </a:defRPr>
            </a:pPr>
            <a:r>
              <a:rPr sz="2800"/>
              <a:t>46.28%</a:t>
            </a:r>
          </a:p>
        </p:txBody>
      </p:sp>
      <p:sp>
        <p:nvSpPr>
          <p:cNvPr id="37" name="TextBox 16">
            <a:extLst>
              <a:ext uri="{FF2B5EF4-FFF2-40B4-BE49-F238E27FC236}">
                <a16:creationId xmlns:a16="http://schemas.microsoft.com/office/drawing/2014/main" id="{D2B0229B-BB24-4128-AC00-86FC15D632E2}"/>
              </a:ext>
            </a:extLst>
          </p:cNvPr>
          <p:cNvSpPr txBox="1"/>
          <p:nvPr/>
        </p:nvSpPr>
        <p:spPr>
          <a:xfrm>
            <a:off x="7761113" y="1828800"/>
            <a:ext cx="699230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950" b="0">
                <a:solidFill>
                  <a:srgbClr val="5E6A74"/>
                </a:solidFill>
                <a:latin typeface="Aptos"/>
              </a:defRPr>
            </a:pPr>
            <a:r>
              <a:rPr sz="1050"/>
              <a:t>Attended</a:t>
            </a:r>
          </a:p>
        </p:txBody>
      </p:sp>
      <p:sp>
        <p:nvSpPr>
          <p:cNvPr id="38" name="Rounded Rectangle 17">
            <a:extLst>
              <a:ext uri="{FF2B5EF4-FFF2-40B4-BE49-F238E27FC236}">
                <a16:creationId xmlns:a16="http://schemas.microsoft.com/office/drawing/2014/main" id="{A2B65624-9B1F-4A8B-8AE6-534CBD68301A}"/>
              </a:ext>
            </a:extLst>
          </p:cNvPr>
          <p:cNvSpPr/>
          <p:nvPr/>
        </p:nvSpPr>
        <p:spPr>
          <a:xfrm>
            <a:off x="9372600" y="123444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39" name="TextBox 18">
            <a:extLst>
              <a:ext uri="{FF2B5EF4-FFF2-40B4-BE49-F238E27FC236}">
                <a16:creationId xmlns:a16="http://schemas.microsoft.com/office/drawing/2014/main" id="{A0FB259F-74AB-49F2-B5DD-48C6A20198B4}"/>
              </a:ext>
            </a:extLst>
          </p:cNvPr>
          <p:cNvSpPr txBox="1"/>
          <p:nvPr/>
        </p:nvSpPr>
        <p:spPr>
          <a:xfrm>
            <a:off x="9760106" y="1399032"/>
            <a:ext cx="109036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00" b="1">
                <a:solidFill>
                  <a:srgbClr val="1B5F87"/>
                </a:solidFill>
                <a:latin typeface="Aptos"/>
              </a:defRPr>
            </a:pPr>
            <a:r>
              <a:rPr sz="2800"/>
              <a:t>5.26%</a:t>
            </a:r>
          </a:p>
        </p:txBody>
      </p:sp>
      <p:sp>
        <p:nvSpPr>
          <p:cNvPr id="40" name="TextBox 19">
            <a:extLst>
              <a:ext uri="{FF2B5EF4-FFF2-40B4-BE49-F238E27FC236}">
                <a16:creationId xmlns:a16="http://schemas.microsoft.com/office/drawing/2014/main" id="{5DF68EAB-95FE-4C3B-BB14-434B1B2BC757}"/>
              </a:ext>
            </a:extLst>
          </p:cNvPr>
          <p:cNvSpPr txBox="1"/>
          <p:nvPr/>
        </p:nvSpPr>
        <p:spPr>
          <a:xfrm>
            <a:off x="9947658" y="1828800"/>
            <a:ext cx="715260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950" b="0">
                <a:solidFill>
                  <a:srgbClr val="5E6A74"/>
                </a:solidFill>
                <a:latin typeface="Aptos"/>
              </a:defRPr>
            </a:pPr>
            <a:r>
              <a:rPr sz="1050"/>
              <a:t>Cancelled</a:t>
            </a:r>
          </a:p>
        </p:txBody>
      </p:sp>
      <p:sp>
        <p:nvSpPr>
          <p:cNvPr id="41" name="TextBox 20">
            <a:extLst>
              <a:ext uri="{FF2B5EF4-FFF2-40B4-BE49-F238E27FC236}">
                <a16:creationId xmlns:a16="http://schemas.microsoft.com/office/drawing/2014/main" id="{8B5E6159-8679-45B1-913F-70234A593CE4}"/>
              </a:ext>
            </a:extLst>
          </p:cNvPr>
          <p:cNvSpPr txBox="1"/>
          <p:nvPr/>
        </p:nvSpPr>
        <p:spPr>
          <a:xfrm>
            <a:off x="685800" y="2679193"/>
            <a:ext cx="10607040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defRPr sz="132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• No-Show is the largest appointment outcome, making missed appointments a priority for further investigation.</a:t>
            </a:r>
          </a:p>
          <a:p>
            <a:pPr>
              <a:spcAft>
                <a:spcPts val="1000"/>
              </a:spcAft>
              <a:defRPr sz="132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• Missing values were identified for Distance to Clinic (90 records) and Waiting Time (60 records).</a:t>
            </a:r>
          </a:p>
          <a:p>
            <a:pPr>
              <a:spcAft>
                <a:spcPts val="1000"/>
              </a:spcAft>
              <a:defRPr sz="132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• The dataset contains both reminded and non-reminded appointments, allowing investigation of the relationship between reminders and attendance.</a:t>
            </a:r>
          </a:p>
          <a:p>
            <a:pPr>
              <a:spcAft>
                <a:spcPts val="1000"/>
              </a:spcAft>
              <a:defRPr sz="132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• Variation in previous appointment history provides an opportunity to examine whether previous attendance </a:t>
            </a:r>
            <a:r>
              <a:rPr sz="1400" dirty="0" err="1"/>
              <a:t>behaviour</a:t>
            </a:r>
            <a:r>
              <a:rPr sz="1400" dirty="0"/>
              <a:t> is associated with future outcomes.</a:t>
            </a:r>
          </a:p>
        </p:txBody>
      </p:sp>
    </p:spTree>
    <p:extLst>
      <p:ext uri="{BB962C8B-B14F-4D97-AF65-F5344CB8AC3E}">
        <p14:creationId xmlns:p14="http://schemas.microsoft.com/office/powerpoint/2010/main" val="211108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CF03580-FE65-4BCC-94C2-5613A698889A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527F7DB7-A692-4BED-9EE6-3FC8DE1E8425}"/>
              </a:ext>
            </a:extLst>
          </p:cNvPr>
          <p:cNvSpPr txBox="1"/>
          <p:nvPr/>
        </p:nvSpPr>
        <p:spPr>
          <a:xfrm>
            <a:off x="594360" y="347472"/>
            <a:ext cx="394172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 b="1">
                <a:solidFill>
                  <a:srgbClr val="18374B"/>
                </a:solidFill>
                <a:latin typeface="Aptos"/>
              </a:defRPr>
            </a:pPr>
            <a:r>
              <a:rPr sz="3200"/>
              <a:t>4. Proposed Approach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65EC8B5F-C925-4F5C-A5C4-0D570FD59DA8}"/>
              </a:ext>
            </a:extLst>
          </p:cNvPr>
          <p:cNvSpPr txBox="1"/>
          <p:nvPr/>
        </p:nvSpPr>
        <p:spPr>
          <a:xfrm>
            <a:off x="612648" y="896112"/>
            <a:ext cx="430714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50" b="0">
                <a:solidFill>
                  <a:srgbClr val="5E6A74"/>
                </a:solidFill>
                <a:latin typeface="Aptos"/>
              </a:defRPr>
            </a:pPr>
            <a:r>
              <a:rPr sz="1200"/>
              <a:t>A structured pathway from data preparation to actionable insights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AD733CB-20EF-4707-9DE4-FEDE93B142BB}"/>
              </a:ext>
            </a:extLst>
          </p:cNvPr>
          <p:cNvSpPr/>
          <p:nvPr/>
        </p:nvSpPr>
        <p:spPr>
          <a:xfrm>
            <a:off x="685800" y="1280160"/>
            <a:ext cx="530352" cy="530352"/>
          </a:xfrm>
          <a:prstGeom prst="ellipse">
            <a:avLst/>
          </a:prstGeom>
          <a:solidFill>
            <a:srgbClr val="1B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AD907AD7-00A0-43BE-A523-647B6A089122}"/>
              </a:ext>
            </a:extLst>
          </p:cNvPr>
          <p:cNvSpPr txBox="1"/>
          <p:nvPr/>
        </p:nvSpPr>
        <p:spPr>
          <a:xfrm>
            <a:off x="792920" y="1399031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rPr sz="1000"/>
              <a:t>01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92722CCF-B824-40EC-B684-EE2137441CD0}"/>
              </a:ext>
            </a:extLst>
          </p:cNvPr>
          <p:cNvSpPr txBox="1"/>
          <p:nvPr/>
        </p:nvSpPr>
        <p:spPr>
          <a:xfrm>
            <a:off x="1417320" y="1261872"/>
            <a:ext cx="15859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50" b="1">
                <a:solidFill>
                  <a:srgbClr val="18374B"/>
                </a:solidFill>
                <a:latin typeface="Aptos"/>
              </a:defRPr>
            </a:pPr>
            <a:r>
              <a:rPr sz="1600"/>
              <a:t>Clean &amp; Validate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A242908D-597E-49D6-955B-900B7D0F7E21}"/>
              </a:ext>
            </a:extLst>
          </p:cNvPr>
          <p:cNvSpPr txBox="1"/>
          <p:nvPr/>
        </p:nvSpPr>
        <p:spPr>
          <a:xfrm>
            <a:off x="2880360" y="1261872"/>
            <a:ext cx="631647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/>
              <a:t>Review missing values, inconsistencies, duplicates, data types and potential outliers.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431274A-0FAF-420B-92B2-D4BB8668FDC4}"/>
              </a:ext>
            </a:extLst>
          </p:cNvPr>
          <p:cNvSpPr/>
          <p:nvPr/>
        </p:nvSpPr>
        <p:spPr>
          <a:xfrm>
            <a:off x="685800" y="2221991"/>
            <a:ext cx="530352" cy="530352"/>
          </a:xfrm>
          <a:prstGeom prst="ellipse">
            <a:avLst/>
          </a:prstGeom>
          <a:solidFill>
            <a:srgbClr val="27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F0E89CCA-72EC-4790-B783-E29E51FF0537}"/>
              </a:ext>
            </a:extLst>
          </p:cNvPr>
          <p:cNvSpPr txBox="1"/>
          <p:nvPr/>
        </p:nvSpPr>
        <p:spPr>
          <a:xfrm>
            <a:off x="792920" y="2340863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rPr sz="1000"/>
              <a:t>02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A88B87C9-4605-49C3-9EE3-47EF2766E38F}"/>
              </a:ext>
            </a:extLst>
          </p:cNvPr>
          <p:cNvSpPr txBox="1"/>
          <p:nvPr/>
        </p:nvSpPr>
        <p:spPr>
          <a:xfrm>
            <a:off x="1417320" y="2203703"/>
            <a:ext cx="82355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50" b="1">
                <a:solidFill>
                  <a:srgbClr val="18374B"/>
                </a:solidFill>
                <a:latin typeface="Aptos"/>
              </a:defRPr>
            </a:pPr>
            <a:r>
              <a:rPr sz="1600"/>
              <a:t>Explore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C6A773FA-9528-4AC5-A87F-363772BBA142}"/>
              </a:ext>
            </a:extLst>
          </p:cNvPr>
          <p:cNvSpPr txBox="1"/>
          <p:nvPr/>
        </p:nvSpPr>
        <p:spPr>
          <a:xfrm>
            <a:off x="2880360" y="2203703"/>
            <a:ext cx="735464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/>
              <a:t>Examine attendance, no-shows and cancellations across relevant patient and appointment factors.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0BDD30D-2CD2-4A95-8876-BB4A1304E8F6}"/>
              </a:ext>
            </a:extLst>
          </p:cNvPr>
          <p:cNvSpPr/>
          <p:nvPr/>
        </p:nvSpPr>
        <p:spPr>
          <a:xfrm>
            <a:off x="685800" y="3163824"/>
            <a:ext cx="530352" cy="530352"/>
          </a:xfrm>
          <a:prstGeom prst="ellipse">
            <a:avLst/>
          </a:prstGeom>
          <a:solidFill>
            <a:srgbClr val="1B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B70DCC9A-B532-4CEA-AA7C-7EA57CA3A4A1}"/>
              </a:ext>
            </a:extLst>
          </p:cNvPr>
          <p:cNvSpPr txBox="1"/>
          <p:nvPr/>
        </p:nvSpPr>
        <p:spPr>
          <a:xfrm>
            <a:off x="792920" y="3282696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rPr sz="1000"/>
              <a:t>03</a:t>
            </a: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FA852B95-A522-40B4-9931-3F21CB6EBA64}"/>
              </a:ext>
            </a:extLst>
          </p:cNvPr>
          <p:cNvSpPr txBox="1"/>
          <p:nvPr/>
        </p:nvSpPr>
        <p:spPr>
          <a:xfrm>
            <a:off x="1417320" y="3145536"/>
            <a:ext cx="9341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50" b="1">
                <a:solidFill>
                  <a:srgbClr val="18374B"/>
                </a:solidFill>
                <a:latin typeface="Aptos"/>
              </a:defRPr>
            </a:pPr>
            <a:r>
              <a:rPr sz="1600"/>
              <a:t>Measure</a:t>
            </a:r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01145546-309B-4C21-86F8-38DB57D6A12E}"/>
              </a:ext>
            </a:extLst>
          </p:cNvPr>
          <p:cNvSpPr txBox="1"/>
          <p:nvPr/>
        </p:nvSpPr>
        <p:spPr>
          <a:xfrm>
            <a:off x="2880360" y="3145536"/>
            <a:ext cx="45074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/>
              <a:t>Calculate and compare the proposed KPIs in the next stage.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663F615-2F5D-4792-B142-84E2C95584F3}"/>
              </a:ext>
            </a:extLst>
          </p:cNvPr>
          <p:cNvSpPr/>
          <p:nvPr/>
        </p:nvSpPr>
        <p:spPr>
          <a:xfrm>
            <a:off x="685800" y="4105656"/>
            <a:ext cx="530352" cy="530352"/>
          </a:xfrm>
          <a:prstGeom prst="ellipse">
            <a:avLst/>
          </a:prstGeom>
          <a:solidFill>
            <a:srgbClr val="27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23" name="TextBox 18">
            <a:extLst>
              <a:ext uri="{FF2B5EF4-FFF2-40B4-BE49-F238E27FC236}">
                <a16:creationId xmlns:a16="http://schemas.microsoft.com/office/drawing/2014/main" id="{3AE39F19-BC5C-4283-A371-D6A8640194CA}"/>
              </a:ext>
            </a:extLst>
          </p:cNvPr>
          <p:cNvSpPr txBox="1"/>
          <p:nvPr/>
        </p:nvSpPr>
        <p:spPr>
          <a:xfrm>
            <a:off x="792920" y="4224528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rPr sz="1000"/>
              <a:t>04</a:t>
            </a:r>
          </a:p>
        </p:txBody>
      </p:sp>
      <p:sp>
        <p:nvSpPr>
          <p:cNvPr id="24" name="TextBox 19">
            <a:extLst>
              <a:ext uri="{FF2B5EF4-FFF2-40B4-BE49-F238E27FC236}">
                <a16:creationId xmlns:a16="http://schemas.microsoft.com/office/drawing/2014/main" id="{0D3A4FF4-84A3-493D-A62A-A1E7772EECD0}"/>
              </a:ext>
            </a:extLst>
          </p:cNvPr>
          <p:cNvSpPr txBox="1"/>
          <p:nvPr/>
        </p:nvSpPr>
        <p:spPr>
          <a:xfrm>
            <a:off x="1417320" y="4087368"/>
            <a:ext cx="93326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50" b="1">
                <a:solidFill>
                  <a:srgbClr val="18374B"/>
                </a:solidFill>
                <a:latin typeface="Aptos"/>
              </a:defRPr>
            </a:pPr>
            <a:r>
              <a:rPr sz="1600"/>
              <a:t>Visualise</a:t>
            </a:r>
          </a:p>
        </p:txBody>
      </p:sp>
      <p:sp>
        <p:nvSpPr>
          <p:cNvPr id="25" name="TextBox 20">
            <a:extLst>
              <a:ext uri="{FF2B5EF4-FFF2-40B4-BE49-F238E27FC236}">
                <a16:creationId xmlns:a16="http://schemas.microsoft.com/office/drawing/2014/main" id="{383ABA7A-40AB-44C9-92BD-F24F77C75BA7}"/>
              </a:ext>
            </a:extLst>
          </p:cNvPr>
          <p:cNvSpPr txBox="1"/>
          <p:nvPr/>
        </p:nvSpPr>
        <p:spPr>
          <a:xfrm>
            <a:off x="2880360" y="4087368"/>
            <a:ext cx="514089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/>
              <a:t>Use Power BI to communicate important patterns and relationships.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2A9E727-CDAA-4D96-87C3-5E99C6BD2450}"/>
              </a:ext>
            </a:extLst>
          </p:cNvPr>
          <p:cNvSpPr/>
          <p:nvPr/>
        </p:nvSpPr>
        <p:spPr>
          <a:xfrm>
            <a:off x="685800" y="5047488"/>
            <a:ext cx="530352" cy="530352"/>
          </a:xfrm>
          <a:prstGeom prst="ellipse">
            <a:avLst/>
          </a:prstGeom>
          <a:solidFill>
            <a:srgbClr val="1B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27" name="TextBox 22">
            <a:extLst>
              <a:ext uri="{FF2B5EF4-FFF2-40B4-BE49-F238E27FC236}">
                <a16:creationId xmlns:a16="http://schemas.microsoft.com/office/drawing/2014/main" id="{1AC98217-C995-4E36-B728-F8C3CAD17079}"/>
              </a:ext>
            </a:extLst>
          </p:cNvPr>
          <p:cNvSpPr txBox="1"/>
          <p:nvPr/>
        </p:nvSpPr>
        <p:spPr>
          <a:xfrm>
            <a:off x="792920" y="5166359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rPr sz="1000"/>
              <a:t>05</a:t>
            </a:r>
          </a:p>
        </p:txBody>
      </p:sp>
      <p:sp>
        <p:nvSpPr>
          <p:cNvPr id="28" name="TextBox 23">
            <a:extLst>
              <a:ext uri="{FF2B5EF4-FFF2-40B4-BE49-F238E27FC236}">
                <a16:creationId xmlns:a16="http://schemas.microsoft.com/office/drawing/2014/main" id="{4436CBDB-7264-4BBB-8F22-AB15F7E7FD47}"/>
              </a:ext>
            </a:extLst>
          </p:cNvPr>
          <p:cNvSpPr txBox="1"/>
          <p:nvPr/>
        </p:nvSpPr>
        <p:spPr>
          <a:xfrm>
            <a:off x="1417320" y="5029200"/>
            <a:ext cx="125303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50" b="1">
                <a:solidFill>
                  <a:srgbClr val="18374B"/>
                </a:solidFill>
                <a:latin typeface="Aptos"/>
              </a:defRPr>
            </a:pPr>
            <a:r>
              <a:rPr sz="1600"/>
              <a:t>Recommend</a:t>
            </a:r>
          </a:p>
        </p:txBody>
      </p:sp>
      <p:sp>
        <p:nvSpPr>
          <p:cNvPr id="29" name="TextBox 24">
            <a:extLst>
              <a:ext uri="{FF2B5EF4-FFF2-40B4-BE49-F238E27FC236}">
                <a16:creationId xmlns:a16="http://schemas.microsoft.com/office/drawing/2014/main" id="{BB96F112-81C3-4627-B4C5-B9AF18F9182F}"/>
              </a:ext>
            </a:extLst>
          </p:cNvPr>
          <p:cNvSpPr txBox="1"/>
          <p:nvPr/>
        </p:nvSpPr>
        <p:spPr>
          <a:xfrm>
            <a:off x="2880360" y="5029200"/>
            <a:ext cx="439479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/>
              <a:t>Translate findings into evidence-based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944336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01D244CD-2298-4991-8226-24745C371CB8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43" name="TextBox 2">
            <a:extLst>
              <a:ext uri="{FF2B5EF4-FFF2-40B4-BE49-F238E27FC236}">
                <a16:creationId xmlns:a16="http://schemas.microsoft.com/office/drawing/2014/main" id="{49B9F437-02FE-48AA-A653-8FD3EAECEB3B}"/>
              </a:ext>
            </a:extLst>
          </p:cNvPr>
          <p:cNvSpPr txBox="1"/>
          <p:nvPr/>
        </p:nvSpPr>
        <p:spPr>
          <a:xfrm>
            <a:off x="594360" y="347472"/>
            <a:ext cx="383470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 b="1">
                <a:solidFill>
                  <a:srgbClr val="18374B"/>
                </a:solidFill>
                <a:latin typeface="Aptos"/>
              </a:defRPr>
            </a:pPr>
            <a:r>
              <a:rPr sz="3200" dirty="0"/>
              <a:t>5. Key Considerations</a:t>
            </a:r>
          </a:p>
        </p:txBody>
      </p:sp>
      <p:sp>
        <p:nvSpPr>
          <p:cNvPr id="44" name="TextBox 3">
            <a:extLst>
              <a:ext uri="{FF2B5EF4-FFF2-40B4-BE49-F238E27FC236}">
                <a16:creationId xmlns:a16="http://schemas.microsoft.com/office/drawing/2014/main" id="{02854E49-439E-454E-BEA1-0C8E7E42A050}"/>
              </a:ext>
            </a:extLst>
          </p:cNvPr>
          <p:cNvSpPr txBox="1"/>
          <p:nvPr/>
        </p:nvSpPr>
        <p:spPr>
          <a:xfrm>
            <a:off x="612648" y="896112"/>
            <a:ext cx="355366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50" b="0">
                <a:solidFill>
                  <a:srgbClr val="5E6A74"/>
                </a:solidFill>
                <a:latin typeface="Aptos"/>
              </a:defRPr>
            </a:pPr>
            <a:r>
              <a:rPr sz="1200"/>
              <a:t>Factors that may affect the analysis and interpretation</a:t>
            </a:r>
          </a:p>
        </p:txBody>
      </p:sp>
      <p:sp>
        <p:nvSpPr>
          <p:cNvPr id="46" name="Rounded Rectangle 5">
            <a:extLst>
              <a:ext uri="{FF2B5EF4-FFF2-40B4-BE49-F238E27FC236}">
                <a16:creationId xmlns:a16="http://schemas.microsoft.com/office/drawing/2014/main" id="{0AA6EE8C-B646-45A3-9DAF-D41B8277B2FD}"/>
              </a:ext>
            </a:extLst>
          </p:cNvPr>
          <p:cNvSpPr/>
          <p:nvPr/>
        </p:nvSpPr>
        <p:spPr>
          <a:xfrm>
            <a:off x="731520" y="132588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3762B85-2248-4428-AD10-0D381E72EAF7}"/>
              </a:ext>
            </a:extLst>
          </p:cNvPr>
          <p:cNvSpPr/>
          <p:nvPr/>
        </p:nvSpPr>
        <p:spPr>
          <a:xfrm>
            <a:off x="731520" y="1325880"/>
            <a:ext cx="64008" cy="1508760"/>
          </a:xfrm>
          <a:prstGeom prst="rect">
            <a:avLst/>
          </a:prstGeom>
          <a:solidFill>
            <a:srgbClr val="1B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48" name="TextBox 7">
            <a:extLst>
              <a:ext uri="{FF2B5EF4-FFF2-40B4-BE49-F238E27FC236}">
                <a16:creationId xmlns:a16="http://schemas.microsoft.com/office/drawing/2014/main" id="{6D91A59D-5031-4F6B-A084-D20D654AC39A}"/>
              </a:ext>
            </a:extLst>
          </p:cNvPr>
          <p:cNvSpPr txBox="1"/>
          <p:nvPr/>
        </p:nvSpPr>
        <p:spPr>
          <a:xfrm>
            <a:off x="932688" y="1490472"/>
            <a:ext cx="177138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8374B"/>
                </a:solidFill>
                <a:latin typeface="Aptos"/>
              </a:defRPr>
            </a:pPr>
            <a:r>
              <a:rPr sz="1600"/>
              <a:t>DATA LIMITATIONS</a:t>
            </a:r>
          </a:p>
        </p:txBody>
      </p:sp>
      <p:sp>
        <p:nvSpPr>
          <p:cNvPr id="49" name="TextBox 8">
            <a:extLst>
              <a:ext uri="{FF2B5EF4-FFF2-40B4-BE49-F238E27FC236}">
                <a16:creationId xmlns:a16="http://schemas.microsoft.com/office/drawing/2014/main" id="{CB795634-CA3E-4598-A5B6-419E7612544D}"/>
              </a:ext>
            </a:extLst>
          </p:cNvPr>
          <p:cNvSpPr txBox="1"/>
          <p:nvPr/>
        </p:nvSpPr>
        <p:spPr>
          <a:xfrm>
            <a:off x="932688" y="1892807"/>
            <a:ext cx="5160452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Missing or incomplete information may affect some analyses. </a:t>
            </a:r>
            <a:endParaRPr lang="en-US" sz="1400" dirty="0"/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The dataset may not capture every reason for missed appointments </a:t>
            </a:r>
            <a:endParaRPr lang="en-US" sz="1400" dirty="0"/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and is fictional.</a:t>
            </a:r>
          </a:p>
        </p:txBody>
      </p:sp>
      <p:sp>
        <p:nvSpPr>
          <p:cNvPr id="50" name="Rounded Rectangle 9">
            <a:extLst>
              <a:ext uri="{FF2B5EF4-FFF2-40B4-BE49-F238E27FC236}">
                <a16:creationId xmlns:a16="http://schemas.microsoft.com/office/drawing/2014/main" id="{CE7E06DB-73BA-4496-BAA4-7A3B26E4F8F2}"/>
              </a:ext>
            </a:extLst>
          </p:cNvPr>
          <p:cNvSpPr/>
          <p:nvPr/>
        </p:nvSpPr>
        <p:spPr>
          <a:xfrm>
            <a:off x="6199632" y="132588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6590175-7DA0-4C52-A278-E9A4FD62C02B}"/>
              </a:ext>
            </a:extLst>
          </p:cNvPr>
          <p:cNvSpPr/>
          <p:nvPr/>
        </p:nvSpPr>
        <p:spPr>
          <a:xfrm>
            <a:off x="6199632" y="1325880"/>
            <a:ext cx="64008" cy="1508760"/>
          </a:xfrm>
          <a:prstGeom prst="rect">
            <a:avLst/>
          </a:prstGeom>
          <a:solidFill>
            <a:srgbClr val="27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52" name="TextBox 11">
            <a:extLst>
              <a:ext uri="{FF2B5EF4-FFF2-40B4-BE49-F238E27FC236}">
                <a16:creationId xmlns:a16="http://schemas.microsoft.com/office/drawing/2014/main" id="{79D0D83A-A929-4665-96BE-4B5F51B5014D}"/>
              </a:ext>
            </a:extLst>
          </p:cNvPr>
          <p:cNvSpPr txBox="1"/>
          <p:nvPr/>
        </p:nvSpPr>
        <p:spPr>
          <a:xfrm>
            <a:off x="6400800" y="1490472"/>
            <a:ext cx="269208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8374B"/>
                </a:solidFill>
                <a:latin typeface="Aptos"/>
              </a:defRPr>
            </a:pPr>
            <a:r>
              <a:rPr sz="1600"/>
              <a:t>TECHNICAL CONSIDERATIONS</a:t>
            </a:r>
          </a:p>
        </p:txBody>
      </p:sp>
      <p:sp>
        <p:nvSpPr>
          <p:cNvPr id="53" name="TextBox 12">
            <a:extLst>
              <a:ext uri="{FF2B5EF4-FFF2-40B4-BE49-F238E27FC236}">
                <a16:creationId xmlns:a16="http://schemas.microsoft.com/office/drawing/2014/main" id="{72AC75A8-B5AB-4764-8062-9E63F71BDE0F}"/>
              </a:ext>
            </a:extLst>
          </p:cNvPr>
          <p:cNvSpPr txBox="1"/>
          <p:nvPr/>
        </p:nvSpPr>
        <p:spPr>
          <a:xfrm>
            <a:off x="6400800" y="1892807"/>
            <a:ext cx="453310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Consistent data preparation and variable definitions will be </a:t>
            </a:r>
            <a:endParaRPr lang="en-US" sz="1400" dirty="0"/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required across Excel, SQL and Power BI.</a:t>
            </a:r>
          </a:p>
        </p:txBody>
      </p:sp>
      <p:sp>
        <p:nvSpPr>
          <p:cNvPr id="54" name="Rounded Rectangle 13">
            <a:extLst>
              <a:ext uri="{FF2B5EF4-FFF2-40B4-BE49-F238E27FC236}">
                <a16:creationId xmlns:a16="http://schemas.microsoft.com/office/drawing/2014/main" id="{828E904F-6666-4EF0-B3D6-670A7AA94D72}"/>
              </a:ext>
            </a:extLst>
          </p:cNvPr>
          <p:cNvSpPr/>
          <p:nvPr/>
        </p:nvSpPr>
        <p:spPr>
          <a:xfrm>
            <a:off x="731520" y="315468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FE6FB42-05FB-4369-B313-3C544AE27C1A}"/>
              </a:ext>
            </a:extLst>
          </p:cNvPr>
          <p:cNvSpPr/>
          <p:nvPr/>
        </p:nvSpPr>
        <p:spPr>
          <a:xfrm>
            <a:off x="731520" y="3154680"/>
            <a:ext cx="64008" cy="1508760"/>
          </a:xfrm>
          <a:prstGeom prst="rect">
            <a:avLst/>
          </a:prstGeom>
          <a:solidFill>
            <a:srgbClr val="1B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56" name="TextBox 15">
            <a:extLst>
              <a:ext uri="{FF2B5EF4-FFF2-40B4-BE49-F238E27FC236}">
                <a16:creationId xmlns:a16="http://schemas.microsoft.com/office/drawing/2014/main" id="{3F0C307B-83B6-4508-ACBC-768B32092326}"/>
              </a:ext>
            </a:extLst>
          </p:cNvPr>
          <p:cNvSpPr txBox="1"/>
          <p:nvPr/>
        </p:nvSpPr>
        <p:spPr>
          <a:xfrm>
            <a:off x="932688" y="3319272"/>
            <a:ext cx="144199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8374B"/>
                </a:solidFill>
                <a:latin typeface="Aptos"/>
              </a:defRPr>
            </a:pPr>
            <a:r>
              <a:rPr sz="1600"/>
              <a:t>PROJECT RISKS</a:t>
            </a:r>
          </a:p>
        </p:txBody>
      </p:sp>
      <p:sp>
        <p:nvSpPr>
          <p:cNvPr id="57" name="TextBox 16">
            <a:extLst>
              <a:ext uri="{FF2B5EF4-FFF2-40B4-BE49-F238E27FC236}">
                <a16:creationId xmlns:a16="http://schemas.microsoft.com/office/drawing/2014/main" id="{A6A97135-3C8A-43E9-B6CC-ECEF3664A11E}"/>
              </a:ext>
            </a:extLst>
          </p:cNvPr>
          <p:cNvSpPr txBox="1"/>
          <p:nvPr/>
        </p:nvSpPr>
        <p:spPr>
          <a:xfrm>
            <a:off x="932688" y="3721608"/>
            <a:ext cx="4907177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Incorrect treatment of missing values or interpreting association </a:t>
            </a:r>
            <a:endParaRPr lang="en-US" sz="1400" dirty="0"/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as causation could lead to misleading conclusions. Reminder </a:t>
            </a:r>
            <a:endParaRPr lang="en-US" sz="1400" dirty="0"/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records require careful interpretation.</a:t>
            </a:r>
          </a:p>
        </p:txBody>
      </p:sp>
      <p:sp>
        <p:nvSpPr>
          <p:cNvPr id="58" name="Rounded Rectangle 17">
            <a:extLst>
              <a:ext uri="{FF2B5EF4-FFF2-40B4-BE49-F238E27FC236}">
                <a16:creationId xmlns:a16="http://schemas.microsoft.com/office/drawing/2014/main" id="{A01F2ACE-BD55-4B4A-9776-A9B80FE5CD28}"/>
              </a:ext>
            </a:extLst>
          </p:cNvPr>
          <p:cNvSpPr/>
          <p:nvPr/>
        </p:nvSpPr>
        <p:spPr>
          <a:xfrm>
            <a:off x="6199632" y="315468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13D8251-DD88-4ADD-9BD9-D8BC2F399DF5}"/>
              </a:ext>
            </a:extLst>
          </p:cNvPr>
          <p:cNvSpPr/>
          <p:nvPr/>
        </p:nvSpPr>
        <p:spPr>
          <a:xfrm>
            <a:off x="6199632" y="3154680"/>
            <a:ext cx="64008" cy="1508760"/>
          </a:xfrm>
          <a:prstGeom prst="rect">
            <a:avLst/>
          </a:prstGeom>
          <a:solidFill>
            <a:srgbClr val="27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60" name="TextBox 19">
            <a:extLst>
              <a:ext uri="{FF2B5EF4-FFF2-40B4-BE49-F238E27FC236}">
                <a16:creationId xmlns:a16="http://schemas.microsoft.com/office/drawing/2014/main" id="{EE3CE0D5-724F-4AD6-AE12-8B0B7D34D2CC}"/>
              </a:ext>
            </a:extLst>
          </p:cNvPr>
          <p:cNvSpPr txBox="1"/>
          <p:nvPr/>
        </p:nvSpPr>
        <p:spPr>
          <a:xfrm>
            <a:off x="6400800" y="3319272"/>
            <a:ext cx="245144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8374B"/>
                </a:solidFill>
                <a:latin typeface="Aptos"/>
              </a:defRPr>
            </a:pPr>
            <a:r>
              <a:rPr sz="1600"/>
              <a:t>ETHICAL CONSIDERATIONS</a:t>
            </a:r>
          </a:p>
        </p:txBody>
      </p:sp>
      <p:sp>
        <p:nvSpPr>
          <p:cNvPr id="61" name="TextBox 20">
            <a:extLst>
              <a:ext uri="{FF2B5EF4-FFF2-40B4-BE49-F238E27FC236}">
                <a16:creationId xmlns:a16="http://schemas.microsoft.com/office/drawing/2014/main" id="{542EFFED-07C0-4CC5-918B-6BB4B6CE37FC}"/>
              </a:ext>
            </a:extLst>
          </p:cNvPr>
          <p:cNvSpPr txBox="1"/>
          <p:nvPr/>
        </p:nvSpPr>
        <p:spPr>
          <a:xfrm>
            <a:off x="6400800" y="3721608"/>
            <a:ext cx="4568174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Avoid </a:t>
            </a:r>
            <a:r>
              <a:rPr sz="1400" dirty="0" err="1"/>
              <a:t>stigmatising</a:t>
            </a:r>
            <a:r>
              <a:rPr sz="1400" dirty="0"/>
              <a:t> patients based on attendance </a:t>
            </a:r>
            <a:r>
              <a:rPr sz="1400" dirty="0" err="1"/>
              <a:t>behaviour</a:t>
            </a:r>
            <a:r>
              <a:rPr sz="1400" dirty="0"/>
              <a:t>.</a:t>
            </a:r>
            <a:r>
              <a:rPr lang="en-US" sz="1400" dirty="0"/>
              <a:t> </a:t>
            </a:r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Report findings appropriately and focus recommendations </a:t>
            </a:r>
            <a:endParaRPr lang="en-US" sz="1400" dirty="0"/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on improving patient support and services.</a:t>
            </a:r>
          </a:p>
        </p:txBody>
      </p:sp>
    </p:spTree>
    <p:extLst>
      <p:ext uri="{BB962C8B-B14F-4D97-AF65-F5344CB8AC3E}">
        <p14:creationId xmlns:p14="http://schemas.microsoft.com/office/powerpoint/2010/main" val="3349933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FF00D3F-0840-4A9E-A776-4DC6C8B4AAC6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24920AC0-816C-46DB-958E-0E3EEA71B859}"/>
              </a:ext>
            </a:extLst>
          </p:cNvPr>
          <p:cNvSpPr txBox="1"/>
          <p:nvPr/>
        </p:nvSpPr>
        <p:spPr>
          <a:xfrm>
            <a:off x="594360" y="347472"/>
            <a:ext cx="520488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 b="1">
                <a:solidFill>
                  <a:srgbClr val="18374B"/>
                </a:solidFill>
                <a:latin typeface="Aptos"/>
              </a:defRPr>
            </a:pPr>
            <a:r>
              <a:rPr sz="3200" dirty="0"/>
              <a:t>6. Proposed Focus for Week 5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32D6C38F-2D0F-4E84-917D-614BD69D4AEC}"/>
              </a:ext>
            </a:extLst>
          </p:cNvPr>
          <p:cNvSpPr txBox="1"/>
          <p:nvPr/>
        </p:nvSpPr>
        <p:spPr>
          <a:xfrm>
            <a:off x="612648" y="896112"/>
            <a:ext cx="338676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50" b="0">
                <a:solidFill>
                  <a:srgbClr val="5E6A74"/>
                </a:solidFill>
                <a:latin typeface="Aptos"/>
              </a:defRPr>
            </a:pPr>
            <a:r>
              <a:rPr sz="1200"/>
              <a:t>Moving from initial assessment to practical analysis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576D6F9F-BC26-46E3-BE17-D02629059BAA}"/>
              </a:ext>
            </a:extLst>
          </p:cNvPr>
          <p:cNvSpPr txBox="1"/>
          <p:nvPr/>
        </p:nvSpPr>
        <p:spPr>
          <a:xfrm>
            <a:off x="612648" y="1383197"/>
            <a:ext cx="83227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1">
                <a:solidFill>
                  <a:srgbClr val="1B5F87"/>
                </a:solidFill>
                <a:latin typeface="Aptos"/>
              </a:defRPr>
            </a:pPr>
            <a:r>
              <a:rPr sz="1600"/>
              <a:t>WEEK 5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33B53AD2-2963-4A9A-ADCD-E99C3C1E422C}"/>
              </a:ext>
            </a:extLst>
          </p:cNvPr>
          <p:cNvSpPr txBox="1"/>
          <p:nvPr/>
        </p:nvSpPr>
        <p:spPr>
          <a:xfrm>
            <a:off x="3333360" y="1252728"/>
            <a:ext cx="622632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00" b="1">
                <a:solidFill>
                  <a:srgbClr val="18374B"/>
                </a:solidFill>
                <a:latin typeface="Aptos"/>
              </a:defRPr>
            </a:pPr>
            <a:r>
              <a:rPr sz="2800"/>
              <a:t>Clean → Explore → Measure → Visualise</a:t>
            </a: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E94AE258-0A51-47BE-8961-DC831E6E0C28}"/>
              </a:ext>
            </a:extLst>
          </p:cNvPr>
          <p:cNvSpPr/>
          <p:nvPr/>
        </p:nvSpPr>
        <p:spPr>
          <a:xfrm>
            <a:off x="731520" y="2148840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56AD9C-C9F5-480F-B4E9-60FC04F21C51}"/>
              </a:ext>
            </a:extLst>
          </p:cNvPr>
          <p:cNvSpPr/>
          <p:nvPr/>
        </p:nvSpPr>
        <p:spPr>
          <a:xfrm>
            <a:off x="731520" y="2148840"/>
            <a:ext cx="64008" cy="1828800"/>
          </a:xfrm>
          <a:prstGeom prst="rect">
            <a:avLst/>
          </a:prstGeom>
          <a:solidFill>
            <a:srgbClr val="1B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7825C1BC-5E9A-432E-A2F2-02EF77E42A23}"/>
              </a:ext>
            </a:extLst>
          </p:cNvPr>
          <p:cNvSpPr txBox="1"/>
          <p:nvPr/>
        </p:nvSpPr>
        <p:spPr>
          <a:xfrm>
            <a:off x="932688" y="2313432"/>
            <a:ext cx="154779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8374B"/>
                </a:solidFill>
                <a:latin typeface="Aptos"/>
              </a:defRPr>
            </a:pPr>
            <a:r>
              <a:rPr sz="1600"/>
              <a:t>DATA CLEANING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7C1BF66B-0611-4BDC-8D09-2AD7A0888642}"/>
              </a:ext>
            </a:extLst>
          </p:cNvPr>
          <p:cNvSpPr txBox="1"/>
          <p:nvPr/>
        </p:nvSpPr>
        <p:spPr>
          <a:xfrm>
            <a:off x="932688" y="2715768"/>
            <a:ext cx="2422266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Investigate missing values and</a:t>
            </a:r>
            <a:r>
              <a:rPr lang="en-US" sz="1400" dirty="0"/>
              <a:t> </a:t>
            </a:r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resolve relevant data-quality </a:t>
            </a:r>
            <a:endParaRPr lang="en-US" sz="1400" dirty="0"/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issues.</a:t>
            </a:r>
          </a:p>
        </p:txBody>
      </p:sp>
      <p:sp>
        <p:nvSpPr>
          <p:cNvPr id="18" name="Rounded Rectangle 11">
            <a:extLst>
              <a:ext uri="{FF2B5EF4-FFF2-40B4-BE49-F238E27FC236}">
                <a16:creationId xmlns:a16="http://schemas.microsoft.com/office/drawing/2014/main" id="{5D666AD9-323D-45C6-9F95-FB09B33AB668}"/>
              </a:ext>
            </a:extLst>
          </p:cNvPr>
          <p:cNvSpPr/>
          <p:nvPr/>
        </p:nvSpPr>
        <p:spPr>
          <a:xfrm>
            <a:off x="3456432" y="2148840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BAF863-8672-4C99-9314-6762BD2EBAE3}"/>
              </a:ext>
            </a:extLst>
          </p:cNvPr>
          <p:cNvSpPr/>
          <p:nvPr/>
        </p:nvSpPr>
        <p:spPr>
          <a:xfrm>
            <a:off x="3456432" y="2148840"/>
            <a:ext cx="64008" cy="1828800"/>
          </a:xfrm>
          <a:prstGeom prst="rect">
            <a:avLst/>
          </a:prstGeom>
          <a:solidFill>
            <a:srgbClr val="27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20" name="TextBox 13">
            <a:extLst>
              <a:ext uri="{FF2B5EF4-FFF2-40B4-BE49-F238E27FC236}">
                <a16:creationId xmlns:a16="http://schemas.microsoft.com/office/drawing/2014/main" id="{0946D688-09F2-4B3D-B5FC-9CEA0C48BD8D}"/>
              </a:ext>
            </a:extLst>
          </p:cNvPr>
          <p:cNvSpPr txBox="1"/>
          <p:nvPr/>
        </p:nvSpPr>
        <p:spPr>
          <a:xfrm>
            <a:off x="3657600" y="2313432"/>
            <a:ext cx="22619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8374B"/>
                </a:solidFill>
                <a:latin typeface="Aptos"/>
              </a:defRPr>
            </a:pPr>
            <a:r>
              <a:rPr sz="1600"/>
              <a:t>EXPLORATORY ANALYSIS</a:t>
            </a:r>
          </a:p>
        </p:txBody>
      </p:sp>
      <p:sp>
        <p:nvSpPr>
          <p:cNvPr id="21" name="TextBox 14">
            <a:extLst>
              <a:ext uri="{FF2B5EF4-FFF2-40B4-BE49-F238E27FC236}">
                <a16:creationId xmlns:a16="http://schemas.microsoft.com/office/drawing/2014/main" id="{CCA63366-1931-42ED-9D55-0DE5B596A3B5}"/>
              </a:ext>
            </a:extLst>
          </p:cNvPr>
          <p:cNvSpPr txBox="1"/>
          <p:nvPr/>
        </p:nvSpPr>
        <p:spPr>
          <a:xfrm>
            <a:off x="3657600" y="2715768"/>
            <a:ext cx="2507866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Examine relationships between </a:t>
            </a:r>
            <a:endParaRPr lang="en-US" sz="1400" dirty="0"/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appointment outcomes and </a:t>
            </a:r>
            <a:endParaRPr lang="en-US" sz="1400" dirty="0"/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key factors.</a:t>
            </a:r>
          </a:p>
        </p:txBody>
      </p:sp>
      <p:sp>
        <p:nvSpPr>
          <p:cNvPr id="22" name="Rounded Rectangle 15">
            <a:extLst>
              <a:ext uri="{FF2B5EF4-FFF2-40B4-BE49-F238E27FC236}">
                <a16:creationId xmlns:a16="http://schemas.microsoft.com/office/drawing/2014/main" id="{EA1012F6-18DA-42E4-87D9-6EADA8EA8E8D}"/>
              </a:ext>
            </a:extLst>
          </p:cNvPr>
          <p:cNvSpPr/>
          <p:nvPr/>
        </p:nvSpPr>
        <p:spPr>
          <a:xfrm>
            <a:off x="6181344" y="2148840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65A0C1-FED2-4482-81DF-403582BBB106}"/>
              </a:ext>
            </a:extLst>
          </p:cNvPr>
          <p:cNvSpPr/>
          <p:nvPr/>
        </p:nvSpPr>
        <p:spPr>
          <a:xfrm>
            <a:off x="6181344" y="2148840"/>
            <a:ext cx="64008" cy="1828800"/>
          </a:xfrm>
          <a:prstGeom prst="rect">
            <a:avLst/>
          </a:prstGeom>
          <a:solidFill>
            <a:srgbClr val="1B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07C520B6-7B56-4530-B50D-AD224A79216C}"/>
              </a:ext>
            </a:extLst>
          </p:cNvPr>
          <p:cNvSpPr txBox="1"/>
          <p:nvPr/>
        </p:nvSpPr>
        <p:spPr>
          <a:xfrm>
            <a:off x="6382512" y="2313432"/>
            <a:ext cx="180331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8374B"/>
                </a:solidFill>
                <a:latin typeface="Aptos"/>
              </a:defRPr>
            </a:pPr>
            <a:r>
              <a:rPr sz="1600"/>
              <a:t>KPI DEVELOPMENT</a:t>
            </a:r>
          </a:p>
        </p:txBody>
      </p:sp>
      <p:sp>
        <p:nvSpPr>
          <p:cNvPr id="26" name="TextBox 18">
            <a:extLst>
              <a:ext uri="{FF2B5EF4-FFF2-40B4-BE49-F238E27FC236}">
                <a16:creationId xmlns:a16="http://schemas.microsoft.com/office/drawing/2014/main" id="{5F74EBCF-0081-45A4-8E14-B4FA35DCEEAD}"/>
              </a:ext>
            </a:extLst>
          </p:cNvPr>
          <p:cNvSpPr txBox="1"/>
          <p:nvPr/>
        </p:nvSpPr>
        <p:spPr>
          <a:xfrm>
            <a:off x="6382512" y="2715768"/>
            <a:ext cx="4262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Calculate the proposed KPIs </a:t>
            </a:r>
            <a:endParaRPr lang="en-US" sz="1400" dirty="0"/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and compare patterns across </a:t>
            </a:r>
            <a:endParaRPr lang="en-US" sz="1400" dirty="0"/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groups.</a:t>
            </a:r>
          </a:p>
        </p:txBody>
      </p:sp>
      <p:sp>
        <p:nvSpPr>
          <p:cNvPr id="27" name="Rounded Rectangle 19">
            <a:extLst>
              <a:ext uri="{FF2B5EF4-FFF2-40B4-BE49-F238E27FC236}">
                <a16:creationId xmlns:a16="http://schemas.microsoft.com/office/drawing/2014/main" id="{57EE1F41-DE5D-4446-BCD3-AB7565998F53}"/>
              </a:ext>
            </a:extLst>
          </p:cNvPr>
          <p:cNvSpPr/>
          <p:nvPr/>
        </p:nvSpPr>
        <p:spPr>
          <a:xfrm>
            <a:off x="8906256" y="2148840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34A760C-1A34-4CAB-810C-5A23E3E1EAC4}"/>
              </a:ext>
            </a:extLst>
          </p:cNvPr>
          <p:cNvSpPr/>
          <p:nvPr/>
        </p:nvSpPr>
        <p:spPr>
          <a:xfrm>
            <a:off x="8906256" y="2148840"/>
            <a:ext cx="64008" cy="1828800"/>
          </a:xfrm>
          <a:prstGeom prst="rect">
            <a:avLst/>
          </a:prstGeom>
          <a:solidFill>
            <a:srgbClr val="27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29" name="TextBox 21">
            <a:extLst>
              <a:ext uri="{FF2B5EF4-FFF2-40B4-BE49-F238E27FC236}">
                <a16:creationId xmlns:a16="http://schemas.microsoft.com/office/drawing/2014/main" id="{8E9D6F50-455F-443A-B0A1-B060D2BC74E4}"/>
              </a:ext>
            </a:extLst>
          </p:cNvPr>
          <p:cNvSpPr txBox="1"/>
          <p:nvPr/>
        </p:nvSpPr>
        <p:spPr>
          <a:xfrm>
            <a:off x="9107424" y="2313432"/>
            <a:ext cx="155452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8374B"/>
                </a:solidFill>
                <a:latin typeface="Aptos"/>
              </a:defRPr>
            </a:pPr>
            <a:r>
              <a:rPr sz="1600"/>
              <a:t>INITIAL VISUALS</a:t>
            </a:r>
          </a:p>
        </p:txBody>
      </p:sp>
      <p:sp>
        <p:nvSpPr>
          <p:cNvPr id="30" name="TextBox 22">
            <a:extLst>
              <a:ext uri="{FF2B5EF4-FFF2-40B4-BE49-F238E27FC236}">
                <a16:creationId xmlns:a16="http://schemas.microsoft.com/office/drawing/2014/main" id="{34D798FF-211B-4F70-882D-4628BB3C3BC4}"/>
              </a:ext>
            </a:extLst>
          </p:cNvPr>
          <p:cNvSpPr txBox="1"/>
          <p:nvPr/>
        </p:nvSpPr>
        <p:spPr>
          <a:xfrm>
            <a:off x="9107424" y="2715768"/>
            <a:ext cx="23347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sz="1400" dirty="0"/>
              <a:t>Begin Power BI </a:t>
            </a:r>
            <a:r>
              <a:rPr sz="1400" dirty="0" err="1"/>
              <a:t>visualisations</a:t>
            </a:r>
            <a:r>
              <a:rPr sz="1400" dirty="0"/>
              <a:t> </a:t>
            </a:r>
            <a:endParaRPr lang="en-US" sz="1400" dirty="0"/>
          </a:p>
          <a:p>
            <a:pPr algn="l">
              <a:defRPr sz="1120" b="0">
                <a:solidFill>
                  <a:srgbClr val="2A343E"/>
                </a:solidFill>
                <a:latin typeface="Aptos"/>
              </a:defRPr>
            </a:pPr>
            <a:r>
              <a:rPr lang="en-US" sz="1400" dirty="0"/>
              <a:t>T</a:t>
            </a:r>
            <a:r>
              <a:rPr sz="1400" dirty="0"/>
              <a:t>o</a:t>
            </a:r>
            <a:r>
              <a:rPr lang="en-US" sz="1400" dirty="0"/>
              <a:t> </a:t>
            </a:r>
            <a:r>
              <a:rPr sz="1400" dirty="0"/>
              <a:t>communicate key findings.</a:t>
            </a:r>
          </a:p>
        </p:txBody>
      </p:sp>
      <p:sp>
        <p:nvSpPr>
          <p:cNvPr id="31" name="TextBox 23">
            <a:extLst>
              <a:ext uri="{FF2B5EF4-FFF2-40B4-BE49-F238E27FC236}">
                <a16:creationId xmlns:a16="http://schemas.microsoft.com/office/drawing/2014/main" id="{DA8D8725-DEA5-4F8B-A205-B28B64203984}"/>
              </a:ext>
            </a:extLst>
          </p:cNvPr>
          <p:cNvSpPr txBox="1"/>
          <p:nvPr/>
        </p:nvSpPr>
        <p:spPr>
          <a:xfrm>
            <a:off x="521228" y="4748183"/>
            <a:ext cx="122052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1">
                <a:solidFill>
                  <a:srgbClr val="1B5F87"/>
                </a:solidFill>
                <a:latin typeface="Aptos"/>
              </a:defRPr>
            </a:pPr>
            <a:r>
              <a:rPr sz="1600" dirty="0"/>
              <a:t>Week 5 goal</a:t>
            </a:r>
          </a:p>
        </p:txBody>
      </p:sp>
      <p:sp>
        <p:nvSpPr>
          <p:cNvPr id="32" name="TextBox 24">
            <a:extLst>
              <a:ext uri="{FF2B5EF4-FFF2-40B4-BE49-F238E27FC236}">
                <a16:creationId xmlns:a16="http://schemas.microsoft.com/office/drawing/2014/main" id="{7A24A789-20B5-44A2-97D1-AD65BA1C0AB1}"/>
              </a:ext>
            </a:extLst>
          </p:cNvPr>
          <p:cNvSpPr txBox="1"/>
          <p:nvPr/>
        </p:nvSpPr>
        <p:spPr>
          <a:xfrm>
            <a:off x="521228" y="5074027"/>
            <a:ext cx="1054493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800" b="1">
                <a:solidFill>
                  <a:srgbClr val="18374B"/>
                </a:solidFill>
                <a:latin typeface="Aptos"/>
              </a:defRPr>
            </a:pPr>
            <a:r>
              <a:rPr dirty="0"/>
              <a:t>Move from understanding the data to identifying patterns and factors associated with missed appointments.</a:t>
            </a:r>
          </a:p>
        </p:txBody>
      </p:sp>
    </p:spTree>
    <p:extLst>
      <p:ext uri="{BB962C8B-B14F-4D97-AF65-F5344CB8AC3E}">
        <p14:creationId xmlns:p14="http://schemas.microsoft.com/office/powerpoint/2010/main" val="2952233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597</Words>
  <Application>Microsoft Office PowerPoint</Application>
  <PresentationFormat>Widescreen</PresentationFormat>
  <Paragraphs>121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27</cp:revision>
  <dcterms:created xsi:type="dcterms:W3CDTF">2026-08-26T13:10:54Z</dcterms:created>
  <dcterms:modified xsi:type="dcterms:W3CDTF">2026-08-30T15:35:55Z</dcterms:modified>
</cp:coreProperties>
</file>