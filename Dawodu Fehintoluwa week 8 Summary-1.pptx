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68" r:id="rId11"/>
    <p:sldId id="267" r:id="rId12"/>
    <p:sldId id="269" r:id="rId13"/>
    <p:sldId id="258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E5D0-194A-428A-BBCB-BBF6D3DC4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C3164-E0DD-4E21-9CB9-26D8D45C2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D0EC9-E52C-4EAC-9B0D-61F53D59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BCA1E-CD5F-439D-8608-212983B9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3CC74-7F97-479D-A488-F282E3E9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9BF0-95B6-4278-91D6-40DEF589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6FC6-67CC-4D91-8639-0B0965CE5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BEC09-C8B5-4526-96D8-1D9E6872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20956-FE6E-44D3-BF42-16B33B08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7DF55-6FF3-4A33-B2F1-A9F3D702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2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62D6-9B1D-42CC-9AD4-05978F61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6EEFF-508B-4681-A86A-ED679241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AFA3-CFA1-4118-928F-4ED6ED93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5A1C-AD5B-448E-B5E1-55D7E925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1810-7A5F-4F20-BBC9-FD9B161A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0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F2274-BB24-4171-812A-3B4AF75E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78B98-35F4-4726-9A79-CDDE10DED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C608B-DC2C-425D-B511-9B5DEC717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A520D-69C1-4121-B5A5-E4BEB05C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7366A-9A83-4B0B-BD38-F52E4273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0E497-F0D0-445A-9126-8F2F81BD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BD1B-7BAF-4A17-B17C-9B89EF72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E5E96-5416-4B17-8141-A4B94BC7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00E7F-CCEE-4F3C-BFB6-F6DF2856A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4BAE8-1109-4EA4-9C25-3A24476A6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F8671-60A5-40BE-B6E7-FEA102AD3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B1CAB-C3C0-47F3-8DB8-65286940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03D09-86B3-4F55-B196-C389DD24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B2DC4-D434-4AA4-83FA-C05E5EC3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8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2A24-BE17-49CF-9623-20454463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4C889-53A0-4627-9A04-8A3CB5CF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141B7-4444-4408-B379-D70851A6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1F183-4797-4801-9A9A-32986436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7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7BD81-D56B-47E0-BF74-7F046925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1D592-9D06-4013-8934-E4860F02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FE698-D6EB-4F8A-8DE3-3BA729F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7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2B68-A335-4907-8110-07A479C3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9352B-6A8C-423A-A4B0-60ADAB8A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A5E44-2745-4872-9404-171A8266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14E8B-0008-4A0C-B86B-552C9EAC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DA86C-D226-4554-AF0C-6D5EAD9F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6218C-5B8C-4C8A-8AF2-856DED6E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8F7B-DE70-4A7D-BBC5-7E5CDB1A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3C102-4B92-43B4-8C62-CF8323957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6937D-CBA8-498D-BA8A-3CEF9DB3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8267-C19E-468F-8692-EAA432B4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9F4A8-2E05-4A9B-A42B-6D7E26E2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33499-B0EB-45A7-9689-48FF316E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E601-BBD0-4ABF-B676-4C1FBA8B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53274-B7B1-4B05-BA0F-2880ACB7B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85CFE-2BFB-4C42-80BC-86E1565E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7EE6-478B-44CC-8157-1BF7924E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99289-E5FB-4AB6-A05C-CAF4AC02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9E274-1CE0-4C09-8551-0F5EE8EDD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11AC9-098D-457B-B14C-BB0AA6295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A8C25-9FEC-4777-9A84-ADCF681D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8BB7C-6276-4D8C-8FB0-0D59F88A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8AE2-134D-46DD-88DC-B96C5D1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2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29AE7-B276-47EE-931C-85BEDC7E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45ED8-1CE7-46C5-8CE8-05FF17F4D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CB192-08FF-4BBB-BA4B-1526F3AEE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D0F64-2E9A-4E39-8843-C4E5F90AB03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B87E3-7313-4938-AFAA-457DF2C57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5EE25-FEF2-450A-9A36-AAE473D26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423F0-8D44-41C6-9A15-6A772CF7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7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251B1D-46C3-4B1D-8C88-D6B7C09EC694}"/>
              </a:ext>
            </a:extLst>
          </p:cNvPr>
          <p:cNvSpPr txBox="1"/>
          <p:nvPr/>
        </p:nvSpPr>
        <p:spPr>
          <a:xfrm>
            <a:off x="731520" y="1417320"/>
            <a:ext cx="881042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6D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</a:t>
            </a:r>
          </a:p>
          <a:p>
            <a:r>
              <a:rPr sz="3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 Attendance &amp; No-Show Analysis</a:t>
            </a:r>
          </a:p>
          <a:p>
            <a:r>
              <a:rPr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8 Final Presentation | Data Analytics Track</a:t>
            </a:r>
          </a:p>
          <a:p>
            <a:r>
              <a:rPr sz="1400">
                <a:solidFill>
                  <a:srgbClr val="D7E1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Dawodu Fehintoluwa Bukola</a:t>
            </a:r>
          </a:p>
        </p:txBody>
      </p:sp>
    </p:spTree>
    <p:extLst>
      <p:ext uri="{BB962C8B-B14F-4D97-AF65-F5344CB8AC3E}">
        <p14:creationId xmlns:p14="http://schemas.microsoft.com/office/powerpoint/2010/main" val="327657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7580FE-E956-4F04-949B-FFF592746A39}"/>
              </a:ext>
            </a:extLst>
          </p:cNvPr>
          <p:cNvSpPr txBox="1"/>
          <p:nvPr/>
        </p:nvSpPr>
        <p:spPr>
          <a:xfrm>
            <a:off x="594360" y="320040"/>
            <a:ext cx="32158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D5AA2-0B8B-4330-A82D-336B449EDD73}"/>
              </a:ext>
            </a:extLst>
          </p:cNvPr>
          <p:cNvSpPr txBox="1"/>
          <p:nvPr/>
        </p:nvSpPr>
        <p:spPr>
          <a:xfrm>
            <a:off x="621792" y="960120"/>
            <a:ext cx="36182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business question to final decision-support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FD559-093A-480B-B058-BD5C2A7083A4}"/>
              </a:ext>
            </a:extLst>
          </p:cNvPr>
          <p:cNvSpPr txBox="1"/>
          <p:nvPr/>
        </p:nvSpPr>
        <p:spPr>
          <a:xfrm>
            <a:off x="640080" y="1325880"/>
            <a:ext cx="19181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82327-9FA3-4F7C-910C-EA7429893042}"/>
              </a:ext>
            </a:extLst>
          </p:cNvPr>
          <p:cNvSpPr txBox="1"/>
          <p:nvPr/>
        </p:nvSpPr>
        <p:spPr>
          <a:xfrm>
            <a:off x="640080" y="1828800"/>
            <a:ext cx="512064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High proportion of missed appointments may affect appointment-slot utilisation, clinic operations and patient access.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Main question: What factors are associated with attendance, cancellation and no-show outcomes?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A84EB-B283-493E-A51B-692B5E0B32D8}"/>
              </a:ext>
            </a:extLst>
          </p:cNvPr>
          <p:cNvSpPr txBox="1"/>
          <p:nvPr/>
        </p:nvSpPr>
        <p:spPr>
          <a:xfrm>
            <a:off x="6217920" y="1325880"/>
            <a:ext cx="19309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542B-3E73-4ED2-805F-48BCEF996080}"/>
              </a:ext>
            </a:extLst>
          </p:cNvPr>
          <p:cNvSpPr txBox="1"/>
          <p:nvPr/>
        </p:nvSpPr>
        <p:spPr>
          <a:xfrm>
            <a:off x="6217920" y="1828800"/>
            <a:ext cx="512064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appointment outcomes and data quality.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meaningful patterns and KPIs.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Build an analytical Power BI dashboard.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Connect descriptive findings with Data Science modelling.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Develop evidence-based recommendations.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B92B9-15A0-4118-8324-4A31E6B42BE5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2</a:t>
            </a:r>
          </a:p>
        </p:txBody>
      </p:sp>
    </p:spTree>
    <p:extLst>
      <p:ext uri="{BB962C8B-B14F-4D97-AF65-F5344CB8AC3E}">
        <p14:creationId xmlns:p14="http://schemas.microsoft.com/office/powerpoint/2010/main" val="364789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7F3B5-4859-49A3-A3B8-B05AD998C375}"/>
              </a:ext>
            </a:extLst>
          </p:cNvPr>
          <p:cNvSpPr txBox="1"/>
          <p:nvPr/>
        </p:nvSpPr>
        <p:spPr>
          <a:xfrm>
            <a:off x="594360" y="320040"/>
            <a:ext cx="46361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Dataset &amp; Project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CEBE3-8910-4D42-A060-0B6A63230C11}"/>
              </a:ext>
            </a:extLst>
          </p:cNvPr>
          <p:cNvSpPr txBox="1"/>
          <p:nvPr/>
        </p:nvSpPr>
        <p:spPr>
          <a:xfrm>
            <a:off x="621792" y="960120"/>
            <a:ext cx="36904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appointments | 1,696 unique patients | 18 variables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8B0867-7C17-408D-AB57-DB24A6A5DECB}"/>
              </a:ext>
            </a:extLst>
          </p:cNvPr>
          <p:cNvSpPr/>
          <p:nvPr/>
        </p:nvSpPr>
        <p:spPr>
          <a:xfrm>
            <a:off x="731520" y="1371600"/>
            <a:ext cx="2468880" cy="13716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C9C269-053D-4E82-BA3A-A9687BB26D93}"/>
              </a:ext>
            </a:extLst>
          </p:cNvPr>
          <p:cNvSpPr/>
          <p:nvPr/>
        </p:nvSpPr>
        <p:spPr>
          <a:xfrm>
            <a:off x="3474720" y="1371600"/>
            <a:ext cx="2468880" cy="13716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1,696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patients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8CB8F2-A7EE-45D0-B937-3F9170D15B91}"/>
              </a:ext>
            </a:extLst>
          </p:cNvPr>
          <p:cNvSpPr/>
          <p:nvPr/>
        </p:nvSpPr>
        <p:spPr>
          <a:xfrm>
            <a:off x="6217920" y="1371600"/>
            <a:ext cx="2468880" cy="13716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728266-4F87-4660-AE98-735CAA1CC4D4}"/>
              </a:ext>
            </a:extLst>
          </p:cNvPr>
          <p:cNvSpPr/>
          <p:nvPr/>
        </p:nvSpPr>
        <p:spPr>
          <a:xfrm>
            <a:off x="8961120" y="1371600"/>
            <a:ext cx="2468880" cy="13716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KPIs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BF1C1-3BEA-433C-B2A1-A76BBBB553B4}"/>
              </a:ext>
            </a:extLst>
          </p:cNvPr>
          <p:cNvSpPr txBox="1"/>
          <p:nvPr/>
        </p:nvSpPr>
        <p:spPr>
          <a:xfrm>
            <a:off x="822960" y="3063240"/>
            <a:ext cx="105156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Week 4 — Understand, assess data quality and define business questions.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Week 5 — Prepare data, conduct EDA, calculate KPIs and develop initial dashboard.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Week 6 — Refine dashboard and deepen analysis.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Week 7 — Validate patterns and collaborate with Data Science.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Week 8 — Final integration, decision support and presentation.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424E5-78BD-4606-8A0E-98E82326CB67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3</a:t>
            </a:r>
          </a:p>
        </p:txBody>
      </p:sp>
    </p:spTree>
    <p:extLst>
      <p:ext uri="{BB962C8B-B14F-4D97-AF65-F5344CB8AC3E}">
        <p14:creationId xmlns:p14="http://schemas.microsoft.com/office/powerpoint/2010/main" val="2487659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9B8DE-B37F-48A9-89C0-8C974698D8DB}"/>
              </a:ext>
            </a:extLst>
          </p:cNvPr>
          <p:cNvSpPr txBox="1"/>
          <p:nvPr/>
        </p:nvSpPr>
        <p:spPr>
          <a:xfrm>
            <a:off x="594360" y="320040"/>
            <a:ext cx="48573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Preparation &amp;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453BF-8FB9-49F1-8003-FCD45FD3B099}"/>
              </a:ext>
            </a:extLst>
          </p:cNvPr>
          <p:cNvSpPr txBox="1"/>
          <p:nvPr/>
        </p:nvSpPr>
        <p:spPr>
          <a:xfrm>
            <a:off x="621792" y="960120"/>
            <a:ext cx="26757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dataset was not overwritten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2897A-76B7-4EDE-8972-6BE44F313EAB}"/>
              </a:ext>
            </a:extLst>
          </p:cNvPr>
          <p:cNvSpPr txBox="1"/>
          <p:nvPr/>
        </p:nvSpPr>
        <p:spPr>
          <a:xfrm>
            <a:off x="640080" y="1325880"/>
            <a:ext cx="20120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performed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787CC-BCDB-4120-9AE5-5B9AEAEAFA5B}"/>
              </a:ext>
            </a:extLst>
          </p:cNvPr>
          <p:cNvSpPr txBox="1"/>
          <p:nvPr/>
        </p:nvSpPr>
        <p:spPr>
          <a:xfrm>
            <a:off x="640080" y="1828800"/>
            <a:ext cx="512064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values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Relevant variables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Potential extreme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96E69-24F9-403A-82EC-1B77723EA1CB}"/>
              </a:ext>
            </a:extLst>
          </p:cNvPr>
          <p:cNvSpPr txBox="1"/>
          <p:nvPr/>
        </p:nvSpPr>
        <p:spPr>
          <a:xfrm>
            <a:off x="6217920" y="1325880"/>
            <a:ext cx="31620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 &amp; treatment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D4D33-7675-4276-850F-F9CDE02BA929}"/>
              </a:ext>
            </a:extLst>
          </p:cNvPr>
          <p:cNvSpPr txBox="1"/>
          <p:nvPr/>
        </p:nvSpPr>
        <p:spPr>
          <a:xfrm>
            <a:off x="6217920" y="1828800"/>
            <a:ext cx="51206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Clinic: 90 missing records.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Time: 60 missing records.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Blank Reminder Channel represented no reminder.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waiting-time values were reviewed for extreme values.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Mean imputation was used for selected missing values.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EF646-498A-460C-B512-01EC311733DC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4</a:t>
            </a:r>
          </a:p>
        </p:txBody>
      </p:sp>
    </p:spTree>
    <p:extLst>
      <p:ext uri="{BB962C8B-B14F-4D97-AF65-F5344CB8AC3E}">
        <p14:creationId xmlns:p14="http://schemas.microsoft.com/office/powerpoint/2010/main" val="99228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F9DE2-A495-4515-9148-9D6D7F9A7632}"/>
              </a:ext>
            </a:extLst>
          </p:cNvPr>
          <p:cNvSpPr txBox="1"/>
          <p:nvPr/>
        </p:nvSpPr>
        <p:spPr>
          <a:xfrm>
            <a:off x="594360" y="320040"/>
            <a:ext cx="41883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Appointment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42FDC-5AA5-4CCB-994C-CCA835D4B8BF}"/>
              </a:ext>
            </a:extLst>
          </p:cNvPr>
          <p:cNvSpPr txBox="1"/>
          <p:nvPr/>
        </p:nvSpPr>
        <p:spPr>
          <a:xfrm>
            <a:off x="621792" y="960120"/>
            <a:ext cx="30817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No-show was the largest appointment outcome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BAF8FB-F22E-481C-8614-D821D581F7A7}"/>
              </a:ext>
            </a:extLst>
          </p:cNvPr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48.46%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2,423 appointments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831288-7272-4D1B-82EF-F736C1517EC9}"/>
              </a:ext>
            </a:extLst>
          </p:cNvPr>
          <p:cNvSpPr/>
          <p:nvPr/>
        </p:nvSpPr>
        <p:spPr>
          <a:xfrm>
            <a:off x="4434840" y="1463040"/>
            <a:ext cx="32918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46.28%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Attended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2,314 appointments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40222B-DE7F-400D-B3A2-E2F4C02ABB84}"/>
              </a:ext>
            </a:extLst>
          </p:cNvPr>
          <p:cNvSpPr/>
          <p:nvPr/>
        </p:nvSpPr>
        <p:spPr>
          <a:xfrm>
            <a:off x="8138160" y="1463040"/>
            <a:ext cx="32918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5.26%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263 appointments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D6598-48C7-49AD-A1F7-7BE0505A40DD}"/>
              </a:ext>
            </a:extLst>
          </p:cNvPr>
          <p:cNvSpPr txBox="1"/>
          <p:nvPr/>
        </p:nvSpPr>
        <p:spPr>
          <a:xfrm>
            <a:off x="914400" y="3840480"/>
            <a:ext cx="102412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Almost half of scheduled appointments were missed.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Attendance was below half of all scheduled appointments.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outcome distribution establishes the baseline for subsequent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83A6F-11F5-4CC6-A58D-8490C46202E0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5</a:t>
            </a:r>
          </a:p>
        </p:txBody>
      </p:sp>
    </p:spTree>
    <p:extLst>
      <p:ext uri="{BB962C8B-B14F-4D97-AF65-F5344CB8AC3E}">
        <p14:creationId xmlns:p14="http://schemas.microsoft.com/office/powerpoint/2010/main" val="304482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54616-3FA1-42F1-8212-ED0E3DB8D804}"/>
              </a:ext>
            </a:extLst>
          </p:cNvPr>
          <p:cNvSpPr txBox="1"/>
          <p:nvPr/>
        </p:nvSpPr>
        <p:spPr>
          <a:xfrm>
            <a:off x="594360" y="320040"/>
            <a:ext cx="60398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Exploratory Analysis: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1A5C8-3078-411C-BE58-5C01372847F5}"/>
              </a:ext>
            </a:extLst>
          </p:cNvPr>
          <p:cNvSpPr txBox="1"/>
          <p:nvPr/>
        </p:nvSpPr>
        <p:spPr>
          <a:xfrm>
            <a:off x="621792" y="960120"/>
            <a:ext cx="33634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associations — not evidence of causation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CB113-AEFF-4A10-9599-7C1B0406BD33}"/>
              </a:ext>
            </a:extLst>
          </p:cNvPr>
          <p:cNvSpPr txBox="1"/>
          <p:nvPr/>
        </p:nvSpPr>
        <p:spPr>
          <a:xfrm>
            <a:off x="640080" y="1325880"/>
            <a:ext cx="35125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&amp; appointment behaviour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ECE2D-DF15-45CA-9875-BECB253F85B3}"/>
              </a:ext>
            </a:extLst>
          </p:cNvPr>
          <p:cNvSpPr txBox="1"/>
          <p:nvPr/>
        </p:nvSpPr>
        <p:spPr>
          <a:xfrm>
            <a:off x="640080" y="1828800"/>
            <a:ext cx="51206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 increased across observed no-show rates.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Follow-up appointments showed higher attendance than general consultation.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Age did not appear to materially differentiate outcomes.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Day of week did not show a meaningful difference.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7FEE3-3D9E-43F7-BF9D-A298604070AE}"/>
              </a:ext>
            </a:extLst>
          </p:cNvPr>
          <p:cNvSpPr txBox="1"/>
          <p:nvPr/>
        </p:nvSpPr>
        <p:spPr>
          <a:xfrm>
            <a:off x="6217920" y="1325880"/>
            <a:ext cx="21146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0ABD4-907E-454A-AD71-324697FFA83C}"/>
              </a:ext>
            </a:extLst>
          </p:cNvPr>
          <p:cNvSpPr txBox="1"/>
          <p:nvPr/>
        </p:nvSpPr>
        <p:spPr>
          <a:xfrm>
            <a:off x="6217920" y="1828800"/>
            <a:ext cx="512064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≤30-day booking lead time: 36.59% no-show.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&gt;30-day booking lead time: 60.31% no-show.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No reminder: 54.6% no-show.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Reminder sent: 49.9% no-show.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60201-83CE-490B-B2F7-450F525DDEE3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6</a:t>
            </a:r>
          </a:p>
        </p:txBody>
      </p:sp>
    </p:spTree>
    <p:extLst>
      <p:ext uri="{BB962C8B-B14F-4D97-AF65-F5344CB8AC3E}">
        <p14:creationId xmlns:p14="http://schemas.microsoft.com/office/powerpoint/2010/main" val="142719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E4A721-C97D-457D-9F68-082F9FEE96F5}"/>
              </a:ext>
            </a:extLst>
          </p:cNvPr>
          <p:cNvSpPr txBox="1"/>
          <p:nvPr/>
        </p:nvSpPr>
        <p:spPr>
          <a:xfrm>
            <a:off x="594360" y="320040"/>
            <a:ext cx="32864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KPI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ADF7B-0CCC-4701-BEAE-8885F49DEE26}"/>
              </a:ext>
            </a:extLst>
          </p:cNvPr>
          <p:cNvSpPr txBox="1"/>
          <p:nvPr/>
        </p:nvSpPr>
        <p:spPr>
          <a:xfrm>
            <a:off x="621792" y="960120"/>
            <a:ext cx="29594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KPIs retained for final decision support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0774F1-768F-499D-93ED-97AF8E2ED6A8}"/>
              </a:ext>
            </a:extLst>
          </p:cNvPr>
          <p:cNvSpPr/>
          <p:nvPr/>
        </p:nvSpPr>
        <p:spPr>
          <a:xfrm>
            <a:off x="914400" y="1508760"/>
            <a:ext cx="3108960" cy="201168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48.46%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No-Show Rate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No-show ÷ total appointments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4382BD-9C90-4C6E-A6C0-9FBA8CC6B72F}"/>
              </a:ext>
            </a:extLst>
          </p:cNvPr>
          <p:cNvSpPr/>
          <p:nvPr/>
        </p:nvSpPr>
        <p:spPr>
          <a:xfrm>
            <a:off x="4526280" y="1508760"/>
            <a:ext cx="3108960" cy="201168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46.28%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Rate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Attended ÷ total appointments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12156F-DDE3-4C59-B9DB-F7EBD00C6F8E}"/>
              </a:ext>
            </a:extLst>
          </p:cNvPr>
          <p:cNvSpPr/>
          <p:nvPr/>
        </p:nvSpPr>
        <p:spPr>
          <a:xfrm>
            <a:off x="8138160" y="1508760"/>
            <a:ext cx="3108960" cy="201168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5.26%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Cancelled ÷ total appointments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F1384-8C8F-4CB8-B2AC-CFE45507E8CC}"/>
              </a:ext>
            </a:extLst>
          </p:cNvPr>
          <p:cNvSpPr txBox="1"/>
          <p:nvPr/>
        </p:nvSpPr>
        <p:spPr>
          <a:xfrm>
            <a:off x="914400" y="4069080"/>
            <a:ext cx="1024128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baseline for monitoring appointment utilisation and missed appointments.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They can be tracked over time and segmented by relevant patient and appointment characteristics.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8EF56-FFE5-41E7-B265-ADA415BD3B09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7</a:t>
            </a:r>
          </a:p>
        </p:txBody>
      </p:sp>
    </p:spTree>
    <p:extLst>
      <p:ext uri="{BB962C8B-B14F-4D97-AF65-F5344CB8AC3E}">
        <p14:creationId xmlns:p14="http://schemas.microsoft.com/office/powerpoint/2010/main" val="114409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CC0C3-622D-4FD2-85D5-C11C2F86081F}"/>
              </a:ext>
            </a:extLst>
          </p:cNvPr>
          <p:cNvSpPr txBox="1"/>
          <p:nvPr/>
        </p:nvSpPr>
        <p:spPr>
          <a:xfrm>
            <a:off x="594360" y="320040"/>
            <a:ext cx="46569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Final Power BI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A052C-37A4-4DE8-A6B8-D5340C7ACDA8}"/>
              </a:ext>
            </a:extLst>
          </p:cNvPr>
          <p:cNvSpPr txBox="1"/>
          <p:nvPr/>
        </p:nvSpPr>
        <p:spPr>
          <a:xfrm>
            <a:off x="621792" y="960120"/>
            <a:ext cx="25330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Three-page decision-support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C8862-A5F8-4B21-9885-9507A9F958B9}"/>
              </a:ext>
            </a:extLst>
          </p:cNvPr>
          <p:cNvSpPr txBox="1"/>
          <p:nvPr/>
        </p:nvSpPr>
        <p:spPr>
          <a:xfrm>
            <a:off x="640080" y="1325880"/>
            <a:ext cx="31470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1 — Executive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06DC9-D77E-4579-B652-3DD8AC994B57}"/>
              </a:ext>
            </a:extLst>
          </p:cNvPr>
          <p:cNvSpPr txBox="1"/>
          <p:nvPr/>
        </p:nvSpPr>
        <p:spPr>
          <a:xfrm>
            <a:off x="640080" y="1828800"/>
            <a:ext cx="51206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KPI cards: total appointments, no-show, attendance and cancellation.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outcome breakdown.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Outcome by appointment type, age group and day of week.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0C823-0F06-4770-AA5C-6768D5E66173}"/>
              </a:ext>
            </a:extLst>
          </p:cNvPr>
          <p:cNvSpPr txBox="1"/>
          <p:nvPr/>
        </p:nvSpPr>
        <p:spPr>
          <a:xfrm>
            <a:off x="6217920" y="1325880"/>
            <a:ext cx="3540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2</a:t>
            </a:r>
            <a:r>
              <a:rPr lang="en-US" b="1" dirty="0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—  No-Show Analysis</a:t>
            </a:r>
            <a:r>
              <a:rPr b="1" dirty="0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68077-C655-464E-AD86-D8DDB79D676D}"/>
              </a:ext>
            </a:extLst>
          </p:cNvPr>
          <p:cNvSpPr txBox="1"/>
          <p:nvPr/>
        </p:nvSpPr>
        <p:spPr>
          <a:xfrm>
            <a:off x="6217920" y="1828800"/>
            <a:ext cx="512064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2: previous no-show history, booking lead time, reminder status/channel and appointment type.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3: Data Science model metrics, segment-level results, KPI validation and recommendations.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move from 'what happened?' to 'what should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investigate?'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5C9B1-2526-4B09-8919-F3F6FFE7B057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8</a:t>
            </a:r>
          </a:p>
        </p:txBody>
      </p:sp>
    </p:spTree>
    <p:extLst>
      <p:ext uri="{BB962C8B-B14F-4D97-AF65-F5344CB8AC3E}">
        <p14:creationId xmlns:p14="http://schemas.microsoft.com/office/powerpoint/2010/main" val="347312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5AFC8-5CFC-4574-BA05-32181DAE1BC4}"/>
              </a:ext>
            </a:extLst>
          </p:cNvPr>
          <p:cNvSpPr txBox="1"/>
          <p:nvPr/>
        </p:nvSpPr>
        <p:spPr>
          <a:xfrm>
            <a:off x="594360" y="320040"/>
            <a:ext cx="47323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Data Science Collaboration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7C0DC-B42C-433F-B5A7-071E6F78583B}"/>
              </a:ext>
            </a:extLst>
          </p:cNvPr>
          <p:cNvSpPr txBox="1"/>
          <p:nvPr/>
        </p:nvSpPr>
        <p:spPr>
          <a:xfrm>
            <a:off x="621792" y="960120"/>
            <a:ext cx="38363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descriptive analytics with predictive modelling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37B46C-CD33-4EE7-828B-3EEA41CF3DDD}"/>
              </a:ext>
            </a:extLst>
          </p:cNvPr>
          <p:cNvSpPr/>
          <p:nvPr/>
        </p:nvSpPr>
        <p:spPr>
          <a:xfrm>
            <a:off x="731520" y="1417320"/>
            <a:ext cx="256032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Recall: previous no-show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58% without history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580C54-EC0F-479E-9466-79467DDBD09B}"/>
              </a:ext>
            </a:extLst>
          </p:cNvPr>
          <p:cNvSpPr/>
          <p:nvPr/>
        </p:nvSpPr>
        <p:spPr>
          <a:xfrm>
            <a:off x="3520440" y="1417320"/>
            <a:ext cx="256032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Recall: &gt;30 days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23% ≤30 days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57ABDF-1642-46EB-8C70-EF74A1919284}"/>
              </a:ext>
            </a:extLst>
          </p:cNvPr>
          <p:cNvSpPr/>
          <p:nvPr/>
        </p:nvSpPr>
        <p:spPr>
          <a:xfrm>
            <a:off x="6309360" y="1417320"/>
            <a:ext cx="256032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0.72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3EA374-CA9E-4701-AF1D-57E4722108B7}"/>
              </a:ext>
            </a:extLst>
          </p:cNvPr>
          <p:cNvSpPr/>
          <p:nvPr/>
        </p:nvSpPr>
        <p:spPr>
          <a:xfrm>
            <a:off x="9098280" y="1417320"/>
            <a:ext cx="22860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67%</a:t>
            </a:r>
          </a:p>
          <a:p>
            <a:pPr algn="ctr"/>
            <a:r>
              <a:rPr sz="12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/ F1</a:t>
            </a:r>
          </a:p>
          <a:p>
            <a:pPr algn="ctr"/>
            <a:r>
              <a:rPr sz="10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5B376-9D9A-4C51-AF3C-960B2AC31C62}"/>
              </a:ext>
            </a:extLst>
          </p:cNvPr>
          <p:cNvSpPr txBox="1"/>
          <p:nvPr/>
        </p:nvSpPr>
        <p:spPr>
          <a:xfrm>
            <a:off x="822960" y="3337560"/>
            <a:ext cx="1042416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provided booking lead-time no-show rates, previous no-show findings and reminder patterns.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tested whether these patterns were useful for prediction.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Cross-track validation strengthened booking lead time and previous no-show history as priority variables for further investigation.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D6263-630F-4451-82D2-127983AF3BF7}"/>
              </a:ext>
            </a:extLst>
          </p:cNvPr>
          <p:cNvSpPr txBox="1"/>
          <p:nvPr/>
        </p:nvSpPr>
        <p:spPr>
          <a:xfrm>
            <a:off x="9173556" y="6473952"/>
            <a:ext cx="23936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9</a:t>
            </a:r>
          </a:p>
        </p:txBody>
      </p:sp>
    </p:spTree>
    <p:extLst>
      <p:ext uri="{BB962C8B-B14F-4D97-AF65-F5344CB8AC3E}">
        <p14:creationId xmlns:p14="http://schemas.microsoft.com/office/powerpoint/2010/main" val="2073448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48DCD-1E37-4FC1-A895-FA9E28B8D06B}"/>
              </a:ext>
            </a:extLst>
          </p:cNvPr>
          <p:cNvSpPr txBox="1"/>
          <p:nvPr/>
        </p:nvSpPr>
        <p:spPr>
          <a:xfrm>
            <a:off x="594360" y="320040"/>
            <a:ext cx="64812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Business Insights &amp;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E64ED-8C90-4244-B67B-EBA7E30F0A17}"/>
              </a:ext>
            </a:extLst>
          </p:cNvPr>
          <p:cNvSpPr txBox="1"/>
          <p:nvPr/>
        </p:nvSpPr>
        <p:spPr>
          <a:xfrm>
            <a:off x="621792" y="960120"/>
            <a:ext cx="29466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HealthConnect should investigate next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90B0E-0472-4218-9FF6-F67F96E229F4}"/>
              </a:ext>
            </a:extLst>
          </p:cNvPr>
          <p:cNvSpPr txBox="1"/>
          <p:nvPr/>
        </p:nvSpPr>
        <p:spPr>
          <a:xfrm>
            <a:off x="640080" y="1325880"/>
            <a:ext cx="9669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47A18-8B45-4A09-9842-B4F8A76312BF}"/>
              </a:ext>
            </a:extLst>
          </p:cNvPr>
          <p:cNvSpPr txBox="1"/>
          <p:nvPr/>
        </p:nvSpPr>
        <p:spPr>
          <a:xfrm>
            <a:off x="640080" y="1828800"/>
            <a:ext cx="512064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No-shows are the largest appointment outcome.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 shows a clear observed gradient.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Longer booking lead time is associated with higher observed no-show rates.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Reminder patterns differ across appointment groups.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FFFF2-5A65-437B-A048-A0484E6C2DA9}"/>
              </a:ext>
            </a:extLst>
          </p:cNvPr>
          <p:cNvSpPr txBox="1"/>
          <p:nvPr/>
        </p:nvSpPr>
        <p:spPr>
          <a:xfrm>
            <a:off x="6217920" y="1325880"/>
            <a:ext cx="20056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27EC4-A7AE-4D3E-8372-E6AE8CD0FB6C}"/>
              </a:ext>
            </a:extLst>
          </p:cNvPr>
          <p:cNvSpPr txBox="1"/>
          <p:nvPr/>
        </p:nvSpPr>
        <p:spPr>
          <a:xfrm>
            <a:off x="6217920" y="1828800"/>
            <a:ext cx="512064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Monitor no-show rate as a core operational KPI.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booking lead-time patterns.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Monitor repeated no-show patterns appropriately.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Review reminder coverage and channel performance.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completeness of relevant data.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Continue validating the predictive model.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A72010-B1DF-4468-929F-4B4272168B5F}"/>
              </a:ext>
            </a:extLst>
          </p:cNvPr>
          <p:cNvSpPr txBox="1"/>
          <p:nvPr/>
        </p:nvSpPr>
        <p:spPr>
          <a:xfrm>
            <a:off x="9115848" y="6473952"/>
            <a:ext cx="24513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10</a:t>
            </a:r>
          </a:p>
        </p:txBody>
      </p:sp>
    </p:spTree>
    <p:extLst>
      <p:ext uri="{BB962C8B-B14F-4D97-AF65-F5344CB8AC3E}">
        <p14:creationId xmlns:p14="http://schemas.microsoft.com/office/powerpoint/2010/main" val="423418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7080B-8629-415B-A55A-F43141363693}"/>
              </a:ext>
            </a:extLst>
          </p:cNvPr>
          <p:cNvSpPr txBox="1"/>
          <p:nvPr/>
        </p:nvSpPr>
        <p:spPr>
          <a:xfrm>
            <a:off x="594360" y="320040"/>
            <a:ext cx="64812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Business Insights &amp;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DF781-0BB6-4269-8E62-FFD8D6839B91}"/>
              </a:ext>
            </a:extLst>
          </p:cNvPr>
          <p:cNvSpPr txBox="1"/>
          <p:nvPr/>
        </p:nvSpPr>
        <p:spPr>
          <a:xfrm>
            <a:off x="621792" y="960120"/>
            <a:ext cx="29466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HealthConnect should investigate next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0655D-81D7-4F16-BEC5-55AA4F3B432A}"/>
              </a:ext>
            </a:extLst>
          </p:cNvPr>
          <p:cNvSpPr txBox="1"/>
          <p:nvPr/>
        </p:nvSpPr>
        <p:spPr>
          <a:xfrm>
            <a:off x="640080" y="1325880"/>
            <a:ext cx="9669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82B9A-5957-460D-B3C6-57494CB83E17}"/>
              </a:ext>
            </a:extLst>
          </p:cNvPr>
          <p:cNvSpPr txBox="1"/>
          <p:nvPr/>
        </p:nvSpPr>
        <p:spPr>
          <a:xfrm>
            <a:off x="640080" y="1828800"/>
            <a:ext cx="512064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No-shows are the largest appointment outcome.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 shows a clear observed gradient.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Longer booking lead time is associated with higher observed no-show rates.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Reminder patterns differ across appointment groups.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701C7-F661-467B-81AB-4A5573712BF0}"/>
              </a:ext>
            </a:extLst>
          </p:cNvPr>
          <p:cNvSpPr txBox="1"/>
          <p:nvPr/>
        </p:nvSpPr>
        <p:spPr>
          <a:xfrm>
            <a:off x="6217920" y="1325880"/>
            <a:ext cx="20056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5AAF6-29B2-49C1-8AFC-7E43FDAD4D6B}"/>
              </a:ext>
            </a:extLst>
          </p:cNvPr>
          <p:cNvSpPr txBox="1"/>
          <p:nvPr/>
        </p:nvSpPr>
        <p:spPr>
          <a:xfrm>
            <a:off x="6217920" y="1828800"/>
            <a:ext cx="512064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Monitor no-show rate as a core operational KPI.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booking lead-time patterns.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Monitor repeated no-show patterns appropriately.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Review reminder coverage and channel performance.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completeness of relevant data.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Continue validating the predictive model.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BA9EE-027C-49F3-85DA-285652183698}"/>
              </a:ext>
            </a:extLst>
          </p:cNvPr>
          <p:cNvSpPr txBox="1"/>
          <p:nvPr/>
        </p:nvSpPr>
        <p:spPr>
          <a:xfrm>
            <a:off x="9115848" y="6473952"/>
            <a:ext cx="24513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10</a:t>
            </a:r>
          </a:p>
        </p:txBody>
      </p:sp>
    </p:spTree>
    <p:extLst>
      <p:ext uri="{BB962C8B-B14F-4D97-AF65-F5344CB8AC3E}">
        <p14:creationId xmlns:p14="http://schemas.microsoft.com/office/powerpoint/2010/main" val="2843624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A03E6A-FE6C-471D-ABD3-5CF091E1CF9B}"/>
              </a:ext>
            </a:extLst>
          </p:cNvPr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92D46"/>
                </a:solidFill>
              </a:rPr>
              <a:t>10. Limitations, Risks &amp; Dependencies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1D63A-E4E0-41C2-9EFD-78F01B10ECF6}"/>
              </a:ext>
            </a:extLst>
          </p:cNvPr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Important for responsible interpretation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04D15-E4BE-495F-8D2D-219C1F0F76DF}"/>
              </a:ext>
            </a:extLst>
          </p:cNvPr>
          <p:cNvSpPr txBox="1"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A7D87"/>
                </a:solidFill>
              </a:rPr>
              <a:t>Limitations &amp; risks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1F5DD-C00D-430D-87E0-C5C8421B94A2}"/>
              </a:ext>
            </a:extLst>
          </p:cNvPr>
          <p:cNvSpPr txBox="1"/>
          <p:nvPr/>
        </p:nvSpPr>
        <p:spPr>
          <a:xfrm>
            <a:off x="64008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Dataset is fictional and may not represent real-world behaviour.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Some variables contain missing values.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Not all factors influencing attendance are captured.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Observed associations do not establish causation.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Mean imputation may affect distance/waiting-time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ED1A5-7555-4B3F-969D-DD1BCD514A59}"/>
              </a:ext>
            </a:extLst>
          </p:cNvPr>
          <p:cNvSpPr txBox="1"/>
          <p:nvPr/>
        </p:nvSpPr>
        <p:spPr>
          <a:xfrm>
            <a:off x="6217920" y="13258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A7D87"/>
                </a:solidFill>
              </a:rPr>
              <a:t>Dependencies &amp; outstanding issue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0126F-0D34-4CFB-94A7-C68B5AFEA8EB}"/>
              </a:ext>
            </a:extLst>
          </p:cNvPr>
          <p:cNvSpPr txBox="1"/>
          <p:nvPr/>
        </p:nvSpPr>
        <p:spPr>
          <a:xfrm>
            <a:off x="6217920" y="1857375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HealthConnect Appointment Dataset and Data Dictionary.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Consistent outcome definitions and data preparation.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Data Science model outputs for final integration.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SQL KPI calculations differ from Power BI/Excel and require reconciliation.</a:t>
            </a:r>
          </a:p>
          <a:p>
            <a:pPr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SQL figures should not be treated as final validated values until reconciled.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F05FF2-B638-497C-8751-3CCEF3A27F7A}"/>
              </a:ext>
            </a:extLst>
          </p:cNvPr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</a:rPr>
              <a:t>HealthConnect Clinic | Data Analytics Track | 11</a:t>
            </a:r>
          </a:p>
        </p:txBody>
      </p:sp>
    </p:spTree>
    <p:extLst>
      <p:ext uri="{BB962C8B-B14F-4D97-AF65-F5344CB8AC3E}">
        <p14:creationId xmlns:p14="http://schemas.microsoft.com/office/powerpoint/2010/main" val="126419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2E667-5B15-4775-9A30-498BC2CB25C5}"/>
              </a:ext>
            </a:extLst>
          </p:cNvPr>
          <p:cNvSpPr txBox="1"/>
          <p:nvPr/>
        </p:nvSpPr>
        <p:spPr>
          <a:xfrm>
            <a:off x="594360" y="320040"/>
            <a:ext cx="43085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Final Project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9BD34-B3F4-40A1-9726-394E738D9007}"/>
              </a:ext>
            </a:extLst>
          </p:cNvPr>
          <p:cNvSpPr txBox="1"/>
          <p:nvPr/>
        </p:nvSpPr>
        <p:spPr>
          <a:xfrm>
            <a:off x="621792" y="960120"/>
            <a:ext cx="35686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data → insight → prediction → decision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5F651-CA51-4C2D-8466-69956EAEB290}"/>
              </a:ext>
            </a:extLst>
          </p:cNvPr>
          <p:cNvSpPr txBox="1"/>
          <p:nvPr/>
        </p:nvSpPr>
        <p:spPr>
          <a:xfrm>
            <a:off x="822960" y="1325880"/>
            <a:ext cx="1051560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48.46% of appointments were no-shows, making missed appointments the largest outcome.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 and booking lead time emerged as important analytical signals.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status/channel and appointment type provided additional areas for investigation.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KPIs were developed and translated into a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-page Power BI decision-support dashboard.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Cross-track collaboration connected descriptive findings with Data Science predictive modelling.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supports evidence-based investigation, while limitations and validation requirements remain documented.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01DBE-0C60-466F-8718-6BCB203FB396}"/>
              </a:ext>
            </a:extLst>
          </p:cNvPr>
          <p:cNvSpPr txBox="1"/>
          <p:nvPr/>
        </p:nvSpPr>
        <p:spPr>
          <a:xfrm>
            <a:off x="9115848" y="6473952"/>
            <a:ext cx="24513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12</a:t>
            </a:r>
          </a:p>
        </p:txBody>
      </p:sp>
    </p:spTree>
    <p:extLst>
      <p:ext uri="{BB962C8B-B14F-4D97-AF65-F5344CB8AC3E}">
        <p14:creationId xmlns:p14="http://schemas.microsoft.com/office/powerpoint/2010/main" val="237859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F8930-8BA0-4638-9041-8568B45C464B}"/>
              </a:ext>
            </a:extLst>
          </p:cNvPr>
          <p:cNvSpPr txBox="1"/>
          <p:nvPr/>
        </p:nvSpPr>
        <p:spPr>
          <a:xfrm>
            <a:off x="594360" y="320040"/>
            <a:ext cx="31476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Final Takeaway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A6F14-0912-44E0-A23B-2CDF92B88ED4}"/>
              </a:ext>
            </a:extLst>
          </p:cNvPr>
          <p:cNvSpPr txBox="1"/>
          <p:nvPr/>
        </p:nvSpPr>
        <p:spPr>
          <a:xfrm>
            <a:off x="621792" y="960120"/>
            <a:ext cx="23423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HealthConnect story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49AC60-F3DD-4C47-9FA4-DFC01FA9722C}"/>
              </a:ext>
            </a:extLst>
          </p:cNvPr>
          <p:cNvSpPr/>
          <p:nvPr/>
        </p:nvSpPr>
        <p:spPr>
          <a:xfrm>
            <a:off x="1005840" y="1508760"/>
            <a:ext cx="10149840" cy="2926080"/>
          </a:xfrm>
          <a:prstGeom prst="roundRect">
            <a:avLst/>
          </a:prstGeom>
          <a:solidFill>
            <a:srgbClr val="F2F6F8"/>
          </a:solidFill>
          <a:ln>
            <a:solidFill>
              <a:srgbClr val="2A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</a:p>
          <a:p>
            <a:pPr algn="ctr"/>
            <a:r>
              <a:rPr sz="2400" b="1">
                <a:solidFill>
                  <a:srgbClr val="2A7D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Prepare → Explore → Measure → Visualise → Validate → Recommend</a:t>
            </a:r>
          </a:p>
          <a:p>
            <a:pPr algn="ctr"/>
            <a:r>
              <a:rPr>
                <a:solidFill>
                  <a:srgbClr val="2D37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can combine descriptive analytics, KPIs and predictive modelling to better understand missed appointments and support evidence-based operational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5B3E3-C2B8-447C-B38A-5ED64296B16A}"/>
              </a:ext>
            </a:extLst>
          </p:cNvPr>
          <p:cNvSpPr txBox="1"/>
          <p:nvPr/>
        </p:nvSpPr>
        <p:spPr>
          <a:xfrm>
            <a:off x="5154064" y="4892040"/>
            <a:ext cx="18533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92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F992E-8FC1-4612-BBD5-E12F5038BAD6}"/>
              </a:ext>
            </a:extLst>
          </p:cNvPr>
          <p:cNvSpPr txBox="1"/>
          <p:nvPr/>
        </p:nvSpPr>
        <p:spPr>
          <a:xfrm>
            <a:off x="9115848" y="6473952"/>
            <a:ext cx="24513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 Clinic | Data Analytics Track | 13</a:t>
            </a:r>
          </a:p>
        </p:txBody>
      </p:sp>
    </p:spTree>
    <p:extLst>
      <p:ext uri="{BB962C8B-B14F-4D97-AF65-F5344CB8AC3E}">
        <p14:creationId xmlns:p14="http://schemas.microsoft.com/office/powerpoint/2010/main" val="4288827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1168</Words>
  <Application>Microsoft Office PowerPoint</Application>
  <PresentationFormat>Widescreen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2026-09-26T20:04:51Z</dcterms:created>
  <dcterms:modified xsi:type="dcterms:W3CDTF">2026-09-27T17:16:12Z</dcterms:modified>
</cp:coreProperties>
</file>