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66" r:id="rId6"/>
    <p:sldId id="265" r:id="rId7"/>
    <p:sldId id="264" r:id="rId8"/>
    <p:sldId id="262" r:id="rId9"/>
    <p:sldId id="260" r:id="rId10"/>
    <p:sldId id="25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85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Attendance,%20No-show,%20and%20cancellation%20rate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</a:rPr>
              <a:t>Booking Lead</a:t>
            </a:r>
            <a:r>
              <a:rPr lang="en-US" b="1" baseline="0" dirty="0">
                <a:solidFill>
                  <a:schemeClr val="bg1"/>
                </a:solidFill>
              </a:rPr>
              <a:t> Days by N</a:t>
            </a:r>
            <a:r>
              <a:rPr lang="en-US" b="1" dirty="0">
                <a:solidFill>
                  <a:schemeClr val="bg1"/>
                </a:solidFill>
              </a:rPr>
              <a:t>o-Show</a:t>
            </a:r>
            <a:r>
              <a:rPr lang="en-US" b="1" baseline="0" dirty="0">
                <a:solidFill>
                  <a:schemeClr val="bg1"/>
                </a:solidFill>
              </a:rPr>
              <a:t> R</a:t>
            </a:r>
            <a:r>
              <a:rPr lang="en-US" b="1" dirty="0">
                <a:solidFill>
                  <a:schemeClr val="bg1"/>
                </a:solidFill>
              </a:rPr>
              <a:t>ate</a:t>
            </a:r>
          </a:p>
        </c:rich>
      </c:tx>
      <c:layout>
        <c:manualLayout>
          <c:xMode val="edge"/>
          <c:yMode val="edge"/>
          <c:x val="0.12887489063867016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18580824429245E-2"/>
          <c:y val="8.3707340410990094E-2"/>
          <c:w val="0.90286351706036749"/>
          <c:h val="0.720887649460484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'Attendance, No-show, and cancel'!$B$8</c:f>
              <c:strCache>
                <c:ptCount val="1"/>
                <c:pt idx="0">
                  <c:v>no_show_rate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'Attendance, No-show, and cancel'!$A$9:$A$10</c:f>
              <c:strCache>
                <c:ptCount val="2"/>
                <c:pt idx="0">
                  <c:v>&gt;30</c:v>
                </c:pt>
                <c:pt idx="1">
                  <c:v>&lt;=30</c:v>
                </c:pt>
              </c:strCache>
            </c:strRef>
          </c:cat>
          <c:val>
            <c:numRef>
              <c:f>'Attendance, No-show, and cancel'!$B$9:$B$10</c:f>
              <c:numCache>
                <c:formatCode>General</c:formatCode>
                <c:ptCount val="2"/>
                <c:pt idx="0">
                  <c:v>60.31</c:v>
                </c:pt>
                <c:pt idx="1">
                  <c:v>36.590000000000003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C5-4994-A034-B5819CF349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1438528"/>
        <c:axId val="2051431872"/>
      </c:barChart>
      <c:catAx>
        <c:axId val="205143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1431872"/>
        <c:crosses val="autoZero"/>
        <c:auto val="1"/>
        <c:lblAlgn val="ctr"/>
        <c:lblOffset val="100"/>
        <c:noMultiLvlLbl val="0"/>
      </c:catAx>
      <c:valAx>
        <c:axId val="2051431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1438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7F10-CB75-4330-AC5E-AEF3D4FF5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93845-8291-401B-A780-8B8962D51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FEDA-6ACC-4B46-85B1-F697CF91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5CDD2-11BA-4695-A0BB-8B338812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106C1-0B1E-4869-8FC1-9BB89D31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6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76E0-0B33-44D8-AA90-F6B009C9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108E0-E45B-4623-8ECF-441FEFAE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A5B83-4445-4020-9430-CD4F5BEB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68A1D-9E35-4A10-B4CD-412C093C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CA4D2-EDFE-4569-8A4A-511C8BEA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81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A0B2-45DC-4890-8ACB-C8EF2EE6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C9C74-3CEF-4FA4-AC29-5EB6952CE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90ED1-B66D-4B5B-8E65-1D983AB4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11831-5A20-4334-82E3-6D9EC65E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D4FC-8D15-48DE-819D-0569B32D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1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A02B-4B8B-49EF-92C1-48D10684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DF44-D34D-408E-9B0B-9FECF9969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41BED-8107-40A4-89E8-12A9BD8F0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CA4A6-24FD-43A0-AF51-C0FD2B40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D74DD-DF70-46B9-82B8-60B873CE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06592-2086-4E07-A2AE-B0F8C210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8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A4D5-F16E-4E08-B786-C3F1DBEB5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1A1A3-93BA-429A-BEDD-FD60226A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E55AA-F17F-4155-AE3C-518388D5C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A4525-98C2-48EF-B05D-4C64A12C6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CA407-E1B7-48E7-B89D-E1097C11E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E7236-8976-48D9-9DF4-99012862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4788B0-A370-4D9C-ACBB-0C0D633A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0B7C5-271C-484F-BCC8-38E3D209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0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A899-94E4-446D-BBE9-1FC69B49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CA6DD-7196-4D8B-817D-B33DFA75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39B68-40BA-4D76-B100-53C73111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CBDAB-588A-477D-A56D-68990AA6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E156E-FA49-4DCB-888E-3A49F332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B1FCF-351B-4461-9CAB-0C0C4914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9BD32-7A10-42A5-8030-0E511689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3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5C13-68CD-4CE0-92DF-54596640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C15C-3309-4F2D-B8D1-2EE872A95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61729-4935-45E8-80A1-14EA4B07A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341C2-D870-417F-854B-F8B2FC0F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B47F-AB93-483D-ADB1-37B76F9B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0BE79-60E4-4DA5-BD2D-A6A8DB7B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2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85F2-BF83-4706-A544-07997C32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20BCA-4F52-4C98-9312-27E5920E0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5E3DA-41ED-47FE-BC56-59D7667F3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E2F83-EC64-46C2-8622-66E98BA0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53C59-8A43-4D4B-BB32-3760A5A3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9F90D-D91E-48BC-BF00-BCAFB529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9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CFB3-D520-4551-84B2-01E4F460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3FF26-3CF2-4933-A561-077C74A2D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3571-C390-473F-8BD3-44C8D7DA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5CDD-99A9-42DC-88E3-4883302B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04E30-B8E4-4F5E-814F-CDC91B65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7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A4C2C-B558-4CF6-87C8-779EF304F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628CE-AC78-444E-9811-DF717620A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DE028-74D4-44E8-8F58-1921137A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65692-3D88-4611-98B2-F9A0F0A4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37795-5163-433A-9C25-AFDA0B76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7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1C3F6A-7479-47CB-B944-4B4E4E578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0684-C288-40D9-A946-BCA8512CF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DFD6A-09AF-41CC-AAF8-DB7BB4F29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C7608-C3E5-4DE8-BD81-72A0A0A09A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D183-D804-42D3-92B9-D9639BD3D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0E1E-DB67-4342-BF1E-882548285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20444-2CAD-4584-827F-B6F83005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FB0D17-7353-461A-A865-26FBB4638843}"/>
              </a:ext>
            </a:extLst>
          </p:cNvPr>
          <p:cNvSpPr/>
          <p:nvPr/>
        </p:nvSpPr>
        <p:spPr>
          <a:xfrm>
            <a:off x="0" y="-1387737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09B90-C72C-4703-90F6-336F1E182AE2}"/>
              </a:ext>
            </a:extLst>
          </p:cNvPr>
          <p:cNvSpPr txBox="1"/>
          <p:nvPr/>
        </p:nvSpPr>
        <p:spPr>
          <a:xfrm>
            <a:off x="360381" y="-357691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591E6"/>
                </a:solidFill>
                <a:latin typeface="Aptos"/>
              </a:rPr>
              <a:t>HEALTHCONNECT CLINIC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010F5-CAD8-4D43-BCE5-D0DF916E411F}"/>
              </a:ext>
            </a:extLst>
          </p:cNvPr>
          <p:cNvSpPr txBox="1"/>
          <p:nvPr/>
        </p:nvSpPr>
        <p:spPr>
          <a:xfrm>
            <a:off x="360381" y="282389"/>
            <a:ext cx="107899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dirty="0">
                <a:solidFill>
                  <a:schemeClr val="bg1"/>
                </a:solidFill>
              </a:rPr>
              <a:t>WEEK 7</a:t>
            </a:r>
          </a:p>
          <a:p>
            <a:r>
              <a:rPr sz="2800" b="1" dirty="0">
                <a:solidFill>
                  <a:schemeClr val="bg1"/>
                </a:solidFill>
              </a:rPr>
              <a:t>PROJECT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02E06-650F-4216-8A72-D5FFA3F297E4}"/>
              </a:ext>
            </a:extLst>
          </p:cNvPr>
          <p:cNvSpPr txBox="1"/>
          <p:nvPr/>
        </p:nvSpPr>
        <p:spPr>
          <a:xfrm>
            <a:off x="378669" y="1745429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AB2AA"/>
                </a:solidFill>
                <a:latin typeface="Aptos"/>
              </a:rPr>
              <a:t>Data Analytics Track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5B915-ABA0-4221-8C67-001AED8AEA7F}"/>
              </a:ext>
            </a:extLst>
          </p:cNvPr>
          <p:cNvSpPr txBox="1"/>
          <p:nvPr/>
        </p:nvSpPr>
        <p:spPr>
          <a:xfrm>
            <a:off x="378669" y="2202629"/>
            <a:ext cx="8229600" cy="374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Analytics Track | Analytical Testing, KPI Validation &amp; Dashboard Refinement</a:t>
            </a: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47C24CBD-47E2-48F2-B145-F076F33B9CA8}"/>
              </a:ext>
            </a:extLst>
          </p:cNvPr>
          <p:cNvSpPr/>
          <p:nvPr/>
        </p:nvSpPr>
        <p:spPr>
          <a:xfrm>
            <a:off x="239357" y="5646420"/>
            <a:ext cx="5212080" cy="82296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EE5364-916E-480A-9730-A24737BA4301}"/>
              </a:ext>
            </a:extLst>
          </p:cNvPr>
          <p:cNvSpPr txBox="1"/>
          <p:nvPr/>
        </p:nvSpPr>
        <p:spPr>
          <a:xfrm>
            <a:off x="467957" y="58750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7FA"/>
                </a:solidFill>
                <a:latin typeface="Aptos"/>
              </a:rPr>
              <a:t>Prepared by: </a:t>
            </a:r>
            <a:r>
              <a:rPr sz="1200" b="1" dirty="0" err="1">
                <a:solidFill>
                  <a:srgbClr val="F5F7FA"/>
                </a:solidFill>
                <a:latin typeface="Aptos"/>
              </a:rPr>
              <a:t>Dawodu</a:t>
            </a:r>
            <a:r>
              <a:rPr sz="1200" b="1" dirty="0">
                <a:solidFill>
                  <a:srgbClr val="F5F7FA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F5F7FA"/>
                </a:solidFill>
                <a:latin typeface="Aptos"/>
              </a:rPr>
              <a:t>Fehintoluwa</a:t>
            </a:r>
            <a:r>
              <a:rPr sz="1200" b="1" dirty="0">
                <a:solidFill>
                  <a:srgbClr val="F5F7FA"/>
                </a:solidFill>
                <a:latin typeface="Aptos"/>
              </a:rPr>
              <a:t> Bukola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CC741-17EB-4678-8ABA-26987DA361C1}"/>
              </a:ext>
            </a:extLst>
          </p:cNvPr>
          <p:cNvSpPr txBox="1"/>
          <p:nvPr/>
        </p:nvSpPr>
        <p:spPr>
          <a:xfrm>
            <a:off x="378669" y="4281295"/>
            <a:ext cx="8229600" cy="374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Prepared by </a:t>
            </a:r>
            <a:r>
              <a:rPr lang="en-US" dirty="0" err="1">
                <a:solidFill>
                  <a:schemeClr val="bg1"/>
                </a:solidFill>
              </a:rPr>
              <a:t>Dawodu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Fehintoluwa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85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7113D-32B0-4B82-BDD9-BBF8B9B95EBC}"/>
              </a:ext>
            </a:extLst>
          </p:cNvPr>
          <p:cNvSpPr/>
          <p:nvPr/>
        </p:nvSpPr>
        <p:spPr>
          <a:xfrm>
            <a:off x="0" y="0"/>
            <a:ext cx="12700734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2C469-9761-4EC7-A04C-36E3CB453B8C}"/>
              </a:ext>
            </a:extLst>
          </p:cNvPr>
          <p:cNvSpPr txBox="1"/>
          <p:nvPr/>
        </p:nvSpPr>
        <p:spPr>
          <a:xfrm>
            <a:off x="132382" y="465848"/>
            <a:ext cx="52390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3591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A1903-504F-4A27-B9D8-4ADECEE4424C}"/>
              </a:ext>
            </a:extLst>
          </p:cNvPr>
          <p:cNvSpPr txBox="1"/>
          <p:nvPr/>
        </p:nvSpPr>
        <p:spPr>
          <a:xfrm>
            <a:off x="394335" y="364486"/>
            <a:ext cx="10954383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200" b="1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7 FOCUS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3600" b="1" dirty="0">
              <a:solidFill>
                <a:srgbClr val="F5F7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5794D-CC10-455F-91A9-E40825047460}"/>
              </a:ext>
            </a:extLst>
          </p:cNvPr>
          <p:cNvSpPr txBox="1"/>
          <p:nvPr/>
        </p:nvSpPr>
        <p:spPr>
          <a:xfrm>
            <a:off x="485775" y="905764"/>
            <a:ext cx="10859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EC3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Findings to Validation</a:t>
            </a:r>
            <a:endParaRPr sz="1200" b="0" dirty="0">
              <a:solidFill>
                <a:srgbClr val="BEC3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405140E-4868-459C-BF9D-C87013010DFA}"/>
              </a:ext>
            </a:extLst>
          </p:cNvPr>
          <p:cNvSpPr/>
          <p:nvPr/>
        </p:nvSpPr>
        <p:spPr>
          <a:xfrm>
            <a:off x="1548764" y="1452530"/>
            <a:ext cx="4295429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2A1F7-790E-4B7D-9E4B-788C4E848456}"/>
              </a:ext>
            </a:extLst>
          </p:cNvPr>
          <p:cNvSpPr txBox="1"/>
          <p:nvPr/>
        </p:nvSpPr>
        <p:spPr>
          <a:xfrm>
            <a:off x="1548765" y="1595473"/>
            <a:ext cx="332441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CAA4D-2E47-4729-8825-6B5B1D319EFD}"/>
              </a:ext>
            </a:extLst>
          </p:cNvPr>
          <p:cNvSpPr txBox="1"/>
          <p:nvPr/>
        </p:nvSpPr>
        <p:spPr>
          <a:xfrm>
            <a:off x="1658779" y="2226091"/>
            <a:ext cx="3324417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0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the KPI values were the same across all tools </a:t>
            </a:r>
            <a:r>
              <a:rPr b="0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28">
            <a:extLst>
              <a:ext uri="{FF2B5EF4-FFF2-40B4-BE49-F238E27FC236}">
                <a16:creationId xmlns:a16="http://schemas.microsoft.com/office/drawing/2014/main" id="{AB8EBCB1-25F5-4856-B221-DD391317C8CF}"/>
              </a:ext>
            </a:extLst>
          </p:cNvPr>
          <p:cNvSpPr/>
          <p:nvPr/>
        </p:nvSpPr>
        <p:spPr>
          <a:xfrm>
            <a:off x="6381939" y="1395710"/>
            <a:ext cx="4324501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0AD3F-85F2-4272-8E1E-FF48E71FB50A}"/>
              </a:ext>
            </a:extLst>
          </p:cNvPr>
          <p:cNvSpPr txBox="1"/>
          <p:nvPr/>
        </p:nvSpPr>
        <p:spPr>
          <a:xfrm>
            <a:off x="6629400" y="1579747"/>
            <a:ext cx="332441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3AB2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RETEST KEY FINDINGS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9BDF0-BF0B-4387-B83D-BD16278EE0D4}"/>
              </a:ext>
            </a:extLst>
          </p:cNvPr>
          <p:cNvSpPr txBox="1"/>
          <p:nvPr/>
        </p:nvSpPr>
        <p:spPr>
          <a:xfrm>
            <a:off x="6584251" y="2171815"/>
            <a:ext cx="391678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Recheck the core appointment KPIs and assess whether Week </a:t>
            </a:r>
            <a:r>
              <a:rPr lang="en-US" b="0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b="0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conclusions remain meaningful.</a:t>
            </a:r>
          </a:p>
        </p:txBody>
      </p:sp>
      <p:sp>
        <p:nvSpPr>
          <p:cNvPr id="12" name="Rounded Rectangle 31">
            <a:extLst>
              <a:ext uri="{FF2B5EF4-FFF2-40B4-BE49-F238E27FC236}">
                <a16:creationId xmlns:a16="http://schemas.microsoft.com/office/drawing/2014/main" id="{19C07E16-7783-4921-9DB9-9FC45CCC9852}"/>
              </a:ext>
            </a:extLst>
          </p:cNvPr>
          <p:cNvSpPr/>
          <p:nvPr/>
        </p:nvSpPr>
        <p:spPr>
          <a:xfrm>
            <a:off x="6469381" y="4122868"/>
            <a:ext cx="4233412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F4457-C5A7-4060-8CF9-6FF46F4796D0}"/>
              </a:ext>
            </a:extLst>
          </p:cNvPr>
          <p:cNvSpPr txBox="1"/>
          <p:nvPr/>
        </p:nvSpPr>
        <p:spPr>
          <a:xfrm>
            <a:off x="6629400" y="4451168"/>
            <a:ext cx="332441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17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DASHBOARD</a:t>
            </a:r>
            <a:endParaRPr b="1" dirty="0">
              <a:solidFill>
                <a:srgbClr val="F17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0BEEC-0297-469D-AA71-090544550083}"/>
              </a:ext>
            </a:extLst>
          </p:cNvPr>
          <p:cNvSpPr txBox="1"/>
          <p:nvPr/>
        </p:nvSpPr>
        <p:spPr>
          <a:xfrm>
            <a:off x="6667690" y="4917967"/>
            <a:ext cx="332441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dashboard filters and calculations.</a:t>
            </a:r>
          </a:p>
        </p:txBody>
      </p:sp>
      <p:sp>
        <p:nvSpPr>
          <p:cNvPr id="15" name="Rounded Rectangle 34">
            <a:extLst>
              <a:ext uri="{FF2B5EF4-FFF2-40B4-BE49-F238E27FC236}">
                <a16:creationId xmlns:a16="http://schemas.microsoft.com/office/drawing/2014/main" id="{689D9605-66AE-4EF9-A8B2-258945300030}"/>
              </a:ext>
            </a:extLst>
          </p:cNvPr>
          <p:cNvSpPr/>
          <p:nvPr/>
        </p:nvSpPr>
        <p:spPr>
          <a:xfrm>
            <a:off x="1554480" y="4157927"/>
            <a:ext cx="4342064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D5AA5-7E7C-471D-A35A-8ADF8CAD20C3}"/>
              </a:ext>
            </a:extLst>
          </p:cNvPr>
          <p:cNvSpPr txBox="1"/>
          <p:nvPr/>
        </p:nvSpPr>
        <p:spPr>
          <a:xfrm>
            <a:off x="1883664" y="4451168"/>
            <a:ext cx="332441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3AB2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918E3-2AC8-4CF6-8B5F-44E11119D7A7}"/>
              </a:ext>
            </a:extLst>
          </p:cNvPr>
          <p:cNvSpPr txBox="1"/>
          <p:nvPr/>
        </p:nvSpPr>
        <p:spPr>
          <a:xfrm>
            <a:off x="1719072" y="4908178"/>
            <a:ext cx="3881629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0" dirty="0">
                <a:solidFill>
                  <a:srgbClr val="F5F7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the result of my findings with that of the data scientist and provide relevant information to them</a:t>
            </a:r>
            <a:endParaRPr b="0" dirty="0">
              <a:solidFill>
                <a:srgbClr val="F5F7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B14E5-681C-493C-ACD8-BE2E39F8B713}"/>
              </a:ext>
            </a:extLst>
          </p:cNvPr>
          <p:cNvSpPr txBox="1"/>
          <p:nvPr/>
        </p:nvSpPr>
        <p:spPr>
          <a:xfrm>
            <a:off x="502920" y="7898266"/>
            <a:ext cx="4762775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969A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sz="1050" b="0" dirty="0">
                <a:solidFill>
                  <a:srgbClr val="969A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Week </a:t>
            </a:r>
            <a:r>
              <a:rPr lang="en-US" sz="1050" b="0" dirty="0">
                <a:solidFill>
                  <a:srgbClr val="969A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1050" b="0" dirty="0">
                <a:solidFill>
                  <a:srgbClr val="969A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Summary  •  2</a:t>
            </a:r>
          </a:p>
        </p:txBody>
      </p:sp>
    </p:spTree>
    <p:extLst>
      <p:ext uri="{BB962C8B-B14F-4D97-AF65-F5344CB8AC3E}">
        <p14:creationId xmlns:p14="http://schemas.microsoft.com/office/powerpoint/2010/main" val="68438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747059-4A34-4C51-99D7-E9A5771D2805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b="1" dirty="0"/>
          </a:p>
        </p:txBody>
      </p:sp>
      <p:sp>
        <p:nvSpPr>
          <p:cNvPr id="3" name="Rounded Rectangle 53">
            <a:extLst>
              <a:ext uri="{FF2B5EF4-FFF2-40B4-BE49-F238E27FC236}">
                <a16:creationId xmlns:a16="http://schemas.microsoft.com/office/drawing/2014/main" id="{CE2DD3DD-7DB8-4A95-BE19-20F314700554}"/>
              </a:ext>
            </a:extLst>
          </p:cNvPr>
          <p:cNvSpPr/>
          <p:nvPr/>
        </p:nvSpPr>
        <p:spPr>
          <a:xfrm>
            <a:off x="6285928" y="1734904"/>
            <a:ext cx="2898649" cy="2053901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14611-7234-42BC-8F57-27B00611E5E1}"/>
              </a:ext>
            </a:extLst>
          </p:cNvPr>
          <p:cNvSpPr txBox="1"/>
          <p:nvPr/>
        </p:nvSpPr>
        <p:spPr>
          <a:xfrm>
            <a:off x="502920" y="320040"/>
            <a:ext cx="502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46CB6-E6A1-4BF6-B9BF-6D4C87526740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dirty="0">
                <a:solidFill>
                  <a:schemeClr val="bg1"/>
                </a:solidFill>
              </a:rPr>
              <a:t>WEEK 6 FINDINGS BEING TESTED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01A2C-72A2-4337-8A8C-0D935D6E00A0}"/>
              </a:ext>
            </a:extLst>
          </p:cNvPr>
          <p:cNvSpPr txBox="1"/>
          <p:nvPr/>
        </p:nvSpPr>
        <p:spPr>
          <a:xfrm>
            <a:off x="1051560" y="613425"/>
            <a:ext cx="10424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EC3CD"/>
                </a:solidFill>
                <a:latin typeface="Aptos"/>
              </a:rPr>
              <a:t>KEY FINDINGS</a:t>
            </a:r>
            <a:endParaRPr sz="12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7" name="Rounded Rectangle 50">
            <a:extLst>
              <a:ext uri="{FF2B5EF4-FFF2-40B4-BE49-F238E27FC236}">
                <a16:creationId xmlns:a16="http://schemas.microsoft.com/office/drawing/2014/main" id="{6F79A15F-7F35-4C0C-8D69-021D01307C39}"/>
              </a:ext>
            </a:extLst>
          </p:cNvPr>
          <p:cNvSpPr/>
          <p:nvPr/>
        </p:nvSpPr>
        <p:spPr>
          <a:xfrm>
            <a:off x="262985" y="1734904"/>
            <a:ext cx="2908746" cy="19659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63A6F-9847-406E-9A9A-7CFD26BDE723}"/>
              </a:ext>
            </a:extLst>
          </p:cNvPr>
          <p:cNvSpPr txBox="1"/>
          <p:nvPr/>
        </p:nvSpPr>
        <p:spPr>
          <a:xfrm>
            <a:off x="587788" y="2003763"/>
            <a:ext cx="20482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3591E6"/>
                </a:solidFill>
                <a:latin typeface="Aptos"/>
              </a:rPr>
              <a:t>Booking Lead Time</a:t>
            </a:r>
            <a:endParaRPr sz="14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4CF25-79C9-49F0-A482-156D0FA4C7F7}"/>
              </a:ext>
            </a:extLst>
          </p:cNvPr>
          <p:cNvSpPr txBox="1"/>
          <p:nvPr/>
        </p:nvSpPr>
        <p:spPr>
          <a:xfrm>
            <a:off x="193357" y="2521295"/>
            <a:ext cx="319125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F5F7FA"/>
                </a:solidFill>
                <a:latin typeface="Aptos"/>
              </a:rPr>
              <a:t>Attendance decreased as booking lead time increased   </a:t>
            </a:r>
            <a:endParaRPr sz="14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0" name="Rounded Rectangle 53">
            <a:extLst>
              <a:ext uri="{FF2B5EF4-FFF2-40B4-BE49-F238E27FC236}">
                <a16:creationId xmlns:a16="http://schemas.microsoft.com/office/drawing/2014/main" id="{3AEE61E9-AF10-4CAD-8B2E-BB752C847C9A}"/>
              </a:ext>
            </a:extLst>
          </p:cNvPr>
          <p:cNvSpPr/>
          <p:nvPr/>
        </p:nvSpPr>
        <p:spPr>
          <a:xfrm>
            <a:off x="3270408" y="1700689"/>
            <a:ext cx="2898649" cy="2053901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34623-DAC8-4BC1-9322-6DDF426B55F1}"/>
              </a:ext>
            </a:extLst>
          </p:cNvPr>
          <p:cNvSpPr txBox="1"/>
          <p:nvPr/>
        </p:nvSpPr>
        <p:spPr>
          <a:xfrm>
            <a:off x="3275650" y="2008394"/>
            <a:ext cx="209169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3AB2AA"/>
                </a:solidFill>
                <a:latin typeface="Aptos"/>
              </a:rPr>
              <a:t>Previous No-Shows</a:t>
            </a:r>
            <a:endParaRPr sz="1400" b="1" dirty="0">
              <a:solidFill>
                <a:srgbClr val="3AB2AA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13461-9D74-4368-8CF3-793A80A421CD}"/>
              </a:ext>
            </a:extLst>
          </p:cNvPr>
          <p:cNvSpPr txBox="1"/>
          <p:nvPr/>
        </p:nvSpPr>
        <p:spPr>
          <a:xfrm>
            <a:off x="3270408" y="2521295"/>
            <a:ext cx="264890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F5F7FA"/>
                </a:solidFill>
                <a:latin typeface="Aptos"/>
              </a:rPr>
              <a:t>No-Show rates increased with previous no-show history</a:t>
            </a:r>
            <a:endParaRPr sz="14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3" name="Rounded Rectangle 56">
            <a:extLst>
              <a:ext uri="{FF2B5EF4-FFF2-40B4-BE49-F238E27FC236}">
                <a16:creationId xmlns:a16="http://schemas.microsoft.com/office/drawing/2014/main" id="{B8DD5718-4286-404C-BAA1-A3FB37B3BA9C}"/>
              </a:ext>
            </a:extLst>
          </p:cNvPr>
          <p:cNvSpPr/>
          <p:nvPr/>
        </p:nvSpPr>
        <p:spPr>
          <a:xfrm>
            <a:off x="9293351" y="1691640"/>
            <a:ext cx="2898649" cy="202647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C60DCC-5090-42CA-ABA9-2C038769E22A}"/>
              </a:ext>
            </a:extLst>
          </p:cNvPr>
          <p:cNvSpPr txBox="1"/>
          <p:nvPr/>
        </p:nvSpPr>
        <p:spPr>
          <a:xfrm>
            <a:off x="9360789" y="2011691"/>
            <a:ext cx="31912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17A3A"/>
                </a:solidFill>
                <a:latin typeface="Aptos"/>
              </a:rPr>
              <a:t>Reminder Status</a:t>
            </a:r>
            <a:endParaRPr sz="1400" b="1" dirty="0">
              <a:solidFill>
                <a:srgbClr val="F17A3A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ED585-8D8C-4A44-AD99-ACE536D9B825}"/>
              </a:ext>
            </a:extLst>
          </p:cNvPr>
          <p:cNvSpPr txBox="1"/>
          <p:nvPr/>
        </p:nvSpPr>
        <p:spPr>
          <a:xfrm>
            <a:off x="9386695" y="2588748"/>
            <a:ext cx="262909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F5F7FA"/>
                </a:solidFill>
                <a:latin typeface="Aptos"/>
              </a:rPr>
              <a:t>No-reminder appointments showed a higher no-show rate</a:t>
            </a:r>
            <a:endParaRPr sz="14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C480AA-32FA-4C67-9DF6-58E673C02DE8}"/>
              </a:ext>
            </a:extLst>
          </p:cNvPr>
          <p:cNvSpPr txBox="1"/>
          <p:nvPr/>
        </p:nvSpPr>
        <p:spPr>
          <a:xfrm>
            <a:off x="6442139" y="2023783"/>
            <a:ext cx="150085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chemeClr val="accent6"/>
                </a:solidFill>
                <a:latin typeface="Aptos"/>
              </a:rPr>
              <a:t>Appointment Type</a:t>
            </a:r>
            <a:endParaRPr sz="1200" b="1" dirty="0">
              <a:solidFill>
                <a:schemeClr val="accent6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D5CF68-DED3-4083-9D6F-0147BBCD164F}"/>
              </a:ext>
            </a:extLst>
          </p:cNvPr>
          <p:cNvSpPr txBox="1"/>
          <p:nvPr/>
        </p:nvSpPr>
        <p:spPr>
          <a:xfrm>
            <a:off x="6382511" y="2414989"/>
            <a:ext cx="295751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7FA"/>
                </a:solidFill>
                <a:latin typeface="Aptos"/>
              </a:rPr>
              <a:t>The analysis identifies patterns and associations. An observed relationship does not establish causation.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6F80E-0736-467D-9081-680F0DCA3E52}"/>
              </a:ext>
            </a:extLst>
          </p:cNvPr>
          <p:cNvSpPr txBox="1"/>
          <p:nvPr/>
        </p:nvSpPr>
        <p:spPr>
          <a:xfrm>
            <a:off x="502920" y="6510528"/>
            <a:ext cx="45720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9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900" dirty="0">
                <a:solidFill>
                  <a:srgbClr val="969AA4"/>
                </a:solidFill>
                <a:latin typeface="Aptos"/>
              </a:rPr>
              <a:t>7 </a:t>
            </a:r>
            <a:r>
              <a:rPr sz="900" b="0" dirty="0">
                <a:solidFill>
                  <a:srgbClr val="969AA4"/>
                </a:solidFill>
                <a:latin typeface="Aptos"/>
              </a:rPr>
              <a:t>Project Summary  </a:t>
            </a:r>
            <a:r>
              <a:rPr sz="900" b="0">
                <a:solidFill>
                  <a:srgbClr val="969AA4"/>
                </a:solidFill>
                <a:latin typeface="Aptos"/>
              </a:rPr>
              <a:t>•  </a:t>
            </a:r>
            <a:r>
              <a:rPr lang="en-US" sz="900" b="0">
                <a:solidFill>
                  <a:srgbClr val="969AA4"/>
                </a:solidFill>
                <a:latin typeface="Aptos"/>
              </a:rPr>
              <a:t>2</a:t>
            </a:r>
            <a:endParaRPr sz="900" b="0" dirty="0">
              <a:solidFill>
                <a:srgbClr val="969AA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7475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D9AA40-66DC-4A0B-A54F-7C732662FF1F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46182-1090-454F-AFFB-64411ECE9D18}"/>
              </a:ext>
            </a:extLst>
          </p:cNvPr>
          <p:cNvSpPr txBox="1"/>
          <p:nvPr/>
        </p:nvSpPr>
        <p:spPr>
          <a:xfrm>
            <a:off x="502920" y="320040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15AB2-682C-4893-A909-49B99A2D88E5}"/>
              </a:ext>
            </a:extLst>
          </p:cNvPr>
          <p:cNvSpPr txBox="1"/>
          <p:nvPr/>
        </p:nvSpPr>
        <p:spPr>
          <a:xfrm>
            <a:off x="1051560" y="256032"/>
            <a:ext cx="105156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 dirty="0">
                <a:solidFill>
                  <a:srgbClr val="F5F7FA"/>
                </a:solidFill>
                <a:latin typeface="Aptos"/>
              </a:rPr>
              <a:t>KPI Validation</a:t>
            </a:r>
            <a:endParaRPr sz="25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D974374-E0BA-46B2-9249-3F50D4BAF3C1}"/>
              </a:ext>
            </a:extLst>
          </p:cNvPr>
          <p:cNvSpPr/>
          <p:nvPr/>
        </p:nvSpPr>
        <p:spPr>
          <a:xfrm>
            <a:off x="594359" y="1088790"/>
            <a:ext cx="10135553" cy="222591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AB40F-FFC8-4343-9F3D-A6292759066B}"/>
              </a:ext>
            </a:extLst>
          </p:cNvPr>
          <p:cNvSpPr txBox="1"/>
          <p:nvPr/>
        </p:nvSpPr>
        <p:spPr>
          <a:xfrm>
            <a:off x="754380" y="1203007"/>
            <a:ext cx="49743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3AB2AA"/>
                </a:solidFill>
                <a:latin typeface="Aptos"/>
              </a:rPr>
              <a:t>KPI Cross-Check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7C509E51-34DE-4F9D-A567-A3E0438237E3}"/>
              </a:ext>
            </a:extLst>
          </p:cNvPr>
          <p:cNvSpPr/>
          <p:nvPr/>
        </p:nvSpPr>
        <p:spPr>
          <a:xfrm>
            <a:off x="484587" y="5030729"/>
            <a:ext cx="10744200" cy="1281726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A4CAD-27F2-4212-B7EF-61295813E5B8}"/>
              </a:ext>
            </a:extLst>
          </p:cNvPr>
          <p:cNvSpPr txBox="1"/>
          <p:nvPr/>
        </p:nvSpPr>
        <p:spPr>
          <a:xfrm>
            <a:off x="561690" y="5119872"/>
            <a:ext cx="50747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3AB2AA"/>
                </a:solidFill>
                <a:latin typeface="Aptos"/>
              </a:rPr>
              <a:t>VALIDATION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B2AC2-32CF-4001-9CE7-84E5D93DC73A}"/>
              </a:ext>
            </a:extLst>
          </p:cNvPr>
          <p:cNvSpPr txBox="1"/>
          <p:nvPr/>
        </p:nvSpPr>
        <p:spPr>
          <a:xfrm>
            <a:off x="502920" y="5550153"/>
            <a:ext cx="497433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dirty="0">
                <a:solidFill>
                  <a:srgbClr val="F5F7FA"/>
                </a:solidFill>
                <a:latin typeface="Aptos"/>
              </a:rPr>
              <a:t>Power BI and Excel results were consistent</a:t>
            </a:r>
            <a:endParaRPr sz="13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6C59D-48BF-4816-AF6D-DF03C4650F6E}"/>
              </a:ext>
            </a:extLst>
          </p:cNvPr>
          <p:cNvSpPr txBox="1"/>
          <p:nvPr/>
        </p:nvSpPr>
        <p:spPr>
          <a:xfrm>
            <a:off x="502920" y="5894420"/>
            <a:ext cx="10332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EC3CD"/>
                </a:solidFill>
                <a:latin typeface="Aptos"/>
              </a:rPr>
              <a:t>SQL cross-check identified a difference requiring reconciliation</a:t>
            </a:r>
            <a:endParaRPr sz="12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9D0E2-184B-4121-A147-A9E21D81FE30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3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  <p:graphicFrame>
        <p:nvGraphicFramePr>
          <p:cNvPr id="12" name="Table 17">
            <a:extLst>
              <a:ext uri="{FF2B5EF4-FFF2-40B4-BE49-F238E27FC236}">
                <a16:creationId xmlns:a16="http://schemas.microsoft.com/office/drawing/2014/main" id="{54F6F764-3A2A-4538-9465-8C28AD10F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1042"/>
              </p:ext>
            </p:extLst>
          </p:nvPr>
        </p:nvGraphicFramePr>
        <p:xfrm>
          <a:off x="831532" y="1547748"/>
          <a:ext cx="9398318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99159">
                  <a:extLst>
                    <a:ext uri="{9D8B030D-6E8A-4147-A177-3AD203B41FA5}">
                      <a16:colId xmlns:a16="http://schemas.microsoft.com/office/drawing/2014/main" val="2880087897"/>
                    </a:ext>
                  </a:extLst>
                </a:gridCol>
                <a:gridCol w="4699159">
                  <a:extLst>
                    <a:ext uri="{9D8B030D-6E8A-4147-A177-3AD203B41FA5}">
                      <a16:colId xmlns:a16="http://schemas.microsoft.com/office/drawing/2014/main" val="3158093747"/>
                    </a:ext>
                  </a:extLst>
                </a:gridCol>
              </a:tblGrid>
              <a:tr h="28820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KPI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POWER BI/EXCEL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172164"/>
                  </a:ext>
                </a:extLst>
              </a:tr>
              <a:tr h="28820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Attendance Rate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46.28%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3994"/>
                  </a:ext>
                </a:extLst>
              </a:tr>
              <a:tr h="28820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No-Show Rate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48.46%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975148"/>
                  </a:ext>
                </a:extLst>
              </a:tr>
              <a:tr h="28820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Cancellation Rate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5.26%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09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47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DF456D-D965-4E73-9344-35CF033F4B8B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BD415-5DEA-4AB3-B8FA-1DF5F6CE77B2}"/>
              </a:ext>
            </a:extLst>
          </p:cNvPr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41A00-5D5A-4E88-882E-ABB8F01B5328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</a:rPr>
              <a:t>Previous No-Show Analysis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339AD-F05B-4989-A595-4FEA2C9DA764}"/>
              </a:ext>
            </a:extLst>
          </p:cNvPr>
          <p:cNvSpPr txBox="1"/>
          <p:nvPr/>
        </p:nvSpPr>
        <p:spPr>
          <a:xfrm>
            <a:off x="1097280" y="641734"/>
            <a:ext cx="10424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>
                <a:solidFill>
                  <a:srgbClr val="BEC3CD"/>
                </a:solidFill>
                <a:latin typeface="Aptos"/>
              </a:rPr>
              <a:t>No-Show Rate by Previous No-shows</a:t>
            </a:r>
            <a:endParaRPr sz="11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39D85A-2714-4FD9-9292-CD3FE60DE555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dirty="0">
                <a:solidFill>
                  <a:srgbClr val="969AA4"/>
                </a:solidFill>
                <a:latin typeface="Aptos"/>
              </a:rPr>
              <a:t>7 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4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  <p:graphicFrame>
        <p:nvGraphicFramePr>
          <p:cNvPr id="7" name="Table 20">
            <a:extLst>
              <a:ext uri="{FF2B5EF4-FFF2-40B4-BE49-F238E27FC236}">
                <a16:creationId xmlns:a16="http://schemas.microsoft.com/office/drawing/2014/main" id="{438872EE-53CD-4525-9D20-DFBCF31AF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069296"/>
              </p:ext>
            </p:extLst>
          </p:nvPr>
        </p:nvGraphicFramePr>
        <p:xfrm>
          <a:off x="1378108" y="1239451"/>
          <a:ext cx="9308942" cy="3546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4471">
                  <a:extLst>
                    <a:ext uri="{9D8B030D-6E8A-4147-A177-3AD203B41FA5}">
                      <a16:colId xmlns:a16="http://schemas.microsoft.com/office/drawing/2014/main" val="694627389"/>
                    </a:ext>
                  </a:extLst>
                </a:gridCol>
                <a:gridCol w="4654471">
                  <a:extLst>
                    <a:ext uri="{9D8B030D-6E8A-4147-A177-3AD203B41FA5}">
                      <a16:colId xmlns:a16="http://schemas.microsoft.com/office/drawing/2014/main" val="2112021879"/>
                    </a:ext>
                  </a:extLst>
                </a:gridCol>
              </a:tblGrid>
              <a:tr h="793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Previous No-Shows</a:t>
                      </a:r>
                    </a:p>
                    <a:p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No-Show Rate</a:t>
                      </a:r>
                    </a:p>
                    <a:p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013271"/>
                  </a:ext>
                </a:extLst>
              </a:tr>
              <a:tr h="45359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43.27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572838"/>
                  </a:ext>
                </a:extLst>
              </a:tr>
              <a:tr h="45989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53.31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98197"/>
                  </a:ext>
                </a:extLst>
              </a:tr>
              <a:tr h="45989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58.96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38170"/>
                  </a:ext>
                </a:extLst>
              </a:tr>
              <a:tr h="45989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68.42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290559"/>
                  </a:ext>
                </a:extLst>
              </a:tr>
              <a:tr h="45989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66.67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64791"/>
                  </a:ext>
                </a:extLst>
              </a:tr>
              <a:tr h="45989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674746"/>
                  </a:ext>
                </a:extLst>
              </a:tr>
            </a:tbl>
          </a:graphicData>
        </a:graphic>
      </p:graphicFrame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B03F638C-F26D-4FB6-8270-4D022F4B4261}"/>
              </a:ext>
            </a:extLst>
          </p:cNvPr>
          <p:cNvSpPr/>
          <p:nvPr/>
        </p:nvSpPr>
        <p:spPr>
          <a:xfrm>
            <a:off x="1103788" y="5429811"/>
            <a:ext cx="9784080" cy="599514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C8C7B-8BC4-44B6-A7ED-B8102BCE29C1}"/>
              </a:ext>
            </a:extLst>
          </p:cNvPr>
          <p:cNvSpPr txBox="1"/>
          <p:nvPr/>
        </p:nvSpPr>
        <p:spPr>
          <a:xfrm>
            <a:off x="1378108" y="5573829"/>
            <a:ext cx="9052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No-Show rate increased as previous no-show history increased</a:t>
            </a:r>
            <a:endParaRPr sz="17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3564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2D8601-A662-4751-A14E-8BB5C792C460}"/>
              </a:ext>
            </a:extLst>
          </p:cNvPr>
          <p:cNvSpPr/>
          <p:nvPr/>
        </p:nvSpPr>
        <p:spPr>
          <a:xfrm>
            <a:off x="0" y="-1387737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2A67D-6A58-406A-8B00-05F7C61BF398}"/>
              </a:ext>
            </a:extLst>
          </p:cNvPr>
          <p:cNvSpPr txBox="1"/>
          <p:nvPr/>
        </p:nvSpPr>
        <p:spPr>
          <a:xfrm>
            <a:off x="502920" y="320040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91E6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3591E6"/>
                </a:solidFill>
                <a:latin typeface="Aptos"/>
              </a:rPr>
              <a:t>5</a:t>
            </a:r>
            <a:endParaRPr sz="11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D3BD1-CA4F-4495-9DBD-8D3570052837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</a:rPr>
              <a:t>Booking Lead Time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4517F-4FAE-4AED-A3C2-A63D832C7035}"/>
              </a:ext>
            </a:extLst>
          </p:cNvPr>
          <p:cNvSpPr txBox="1"/>
          <p:nvPr/>
        </p:nvSpPr>
        <p:spPr>
          <a:xfrm>
            <a:off x="1051560" y="749808"/>
            <a:ext cx="10424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>
                <a:solidFill>
                  <a:srgbClr val="BEC3CD"/>
                </a:solidFill>
                <a:latin typeface="Aptos"/>
              </a:rPr>
              <a:t>Booking Lead Time &amp; No-Show Risk</a:t>
            </a:r>
            <a:endParaRPr sz="11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FADE7F-298F-428F-A594-AC97FE122AB2}"/>
              </a:ext>
            </a:extLst>
          </p:cNvPr>
          <p:cNvSpPr/>
          <p:nvPr/>
        </p:nvSpPr>
        <p:spPr>
          <a:xfrm>
            <a:off x="594360" y="1234440"/>
            <a:ext cx="338328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C6964-82B8-419E-BE78-FA4AB2C324FF}"/>
              </a:ext>
            </a:extLst>
          </p:cNvPr>
          <p:cNvSpPr txBox="1"/>
          <p:nvPr/>
        </p:nvSpPr>
        <p:spPr>
          <a:xfrm>
            <a:off x="758952" y="136245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RECEIVED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12187-C484-4E89-86D1-FE86304F36C5}"/>
              </a:ext>
            </a:extLst>
          </p:cNvPr>
          <p:cNvSpPr txBox="1"/>
          <p:nvPr/>
        </p:nvSpPr>
        <p:spPr>
          <a:xfrm>
            <a:off x="758952" y="1671226"/>
            <a:ext cx="305409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Aptos"/>
              </a:rPr>
              <a:t>Data science requested for the value percentage of no-show rate for booking lead greater than 30 and those lesser than 30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136207-3D00-4B8F-AAE2-2C859D33A3C4}"/>
              </a:ext>
            </a:extLst>
          </p:cNvPr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EB2DD3-633E-4294-BBA0-D525DFE3C9F2}"/>
              </a:ext>
            </a:extLst>
          </p:cNvPr>
          <p:cNvSpPr txBox="1"/>
          <p:nvPr/>
        </p:nvSpPr>
        <p:spPr>
          <a:xfrm>
            <a:off x="4495800" y="142747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PROVIDED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D0C87-32CE-4000-9FC0-4189F97AB647}"/>
              </a:ext>
            </a:extLst>
          </p:cNvPr>
          <p:cNvSpPr txBox="1"/>
          <p:nvPr/>
        </p:nvSpPr>
        <p:spPr>
          <a:xfrm>
            <a:off x="4553712" y="1764792"/>
            <a:ext cx="305409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Booking lead days &gt; 30 days has significantly higher No-show rate than those with fewer lead date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D7C0FBC6-7B6C-4249-A2E6-5CA37258CB85}"/>
              </a:ext>
            </a:extLst>
          </p:cNvPr>
          <p:cNvSpPr/>
          <p:nvPr/>
        </p:nvSpPr>
        <p:spPr>
          <a:xfrm>
            <a:off x="1005840" y="5580870"/>
            <a:ext cx="9784080" cy="51335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79E1D-D1E0-4D68-A8DD-3C1A79FC706E}"/>
              </a:ext>
            </a:extLst>
          </p:cNvPr>
          <p:cNvSpPr txBox="1"/>
          <p:nvPr/>
        </p:nvSpPr>
        <p:spPr>
          <a:xfrm>
            <a:off x="1126807" y="5724888"/>
            <a:ext cx="9052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Cross-track validation requested by Data science</a:t>
            </a:r>
            <a:endParaRPr sz="1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D6A3A-815C-478E-B139-71DA50E40532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Project Summary  •  5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308A848-EFD8-4EAE-9C41-4A59D01BB7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877592"/>
              </p:ext>
            </p:extLst>
          </p:nvPr>
        </p:nvGraphicFramePr>
        <p:xfrm>
          <a:off x="8183880" y="1179656"/>
          <a:ext cx="3763281" cy="1932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0531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D1982-3B3C-46D9-B051-6E2698991E1E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A32A1-7BCA-44E2-B468-929CE8135A72}"/>
              </a:ext>
            </a:extLst>
          </p:cNvPr>
          <p:cNvSpPr txBox="1"/>
          <p:nvPr/>
        </p:nvSpPr>
        <p:spPr>
          <a:xfrm>
            <a:off x="502920" y="320040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91E6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3591E6"/>
                </a:solidFill>
                <a:latin typeface="Aptos"/>
              </a:rPr>
              <a:t>6</a:t>
            </a:r>
            <a:endParaRPr sz="11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E6221-5776-47BC-A8CE-8DEDC59DA481}"/>
              </a:ext>
            </a:extLst>
          </p:cNvPr>
          <p:cNvSpPr txBox="1"/>
          <p:nvPr/>
        </p:nvSpPr>
        <p:spPr>
          <a:xfrm>
            <a:off x="1051560" y="260491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Collaboration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E7D3B-2050-4392-9A67-8CB2D7222110}"/>
              </a:ext>
            </a:extLst>
          </p:cNvPr>
          <p:cNvSpPr txBox="1"/>
          <p:nvPr/>
        </p:nvSpPr>
        <p:spPr>
          <a:xfrm>
            <a:off x="1051560" y="749808"/>
            <a:ext cx="10424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>
                <a:solidFill>
                  <a:srgbClr val="BEC3CD"/>
                </a:solidFill>
                <a:latin typeface="Aptos"/>
              </a:rPr>
              <a:t>Data Analytics  and Data Science</a:t>
            </a:r>
            <a:endParaRPr sz="11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74A798-D3CD-4C29-9E15-0A3523DDD3C3}"/>
              </a:ext>
            </a:extLst>
          </p:cNvPr>
          <p:cNvSpPr/>
          <p:nvPr/>
        </p:nvSpPr>
        <p:spPr>
          <a:xfrm>
            <a:off x="594360" y="12344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73C7C-78C8-4CFE-BCCF-81DBAE48307D}"/>
              </a:ext>
            </a:extLst>
          </p:cNvPr>
          <p:cNvSpPr txBox="1"/>
          <p:nvPr/>
        </p:nvSpPr>
        <p:spPr>
          <a:xfrm>
            <a:off x="758952" y="1362456"/>
            <a:ext cx="31455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F17A3A"/>
                </a:solidFill>
                <a:latin typeface="Aptos"/>
              </a:rPr>
              <a:t>Previous no-show history</a:t>
            </a:r>
            <a:endParaRPr sz="1200" b="1" dirty="0">
              <a:solidFill>
                <a:srgbClr val="F17A3A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8DD77-B82C-4E4C-880B-2AFA689C7A42}"/>
              </a:ext>
            </a:extLst>
          </p:cNvPr>
          <p:cNvSpPr txBox="1"/>
          <p:nvPr/>
        </p:nvSpPr>
        <p:spPr>
          <a:xfrm>
            <a:off x="758952" y="1764792"/>
            <a:ext cx="3145536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dirty="0">
                <a:solidFill>
                  <a:srgbClr val="F5F7FA"/>
                </a:solidFill>
                <a:latin typeface="Aptos"/>
              </a:rPr>
              <a:t>78% recall with history vs 58% without</a:t>
            </a:r>
            <a:endParaRPr sz="115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41E44E-C63A-4E67-9419-E0CA45302DFA}"/>
              </a:ext>
            </a:extLst>
          </p:cNvPr>
          <p:cNvSpPr/>
          <p:nvPr/>
        </p:nvSpPr>
        <p:spPr>
          <a:xfrm>
            <a:off x="4343400" y="12344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2152E-C94F-481E-A964-B09955D87033}"/>
              </a:ext>
            </a:extLst>
          </p:cNvPr>
          <p:cNvSpPr txBox="1"/>
          <p:nvPr/>
        </p:nvSpPr>
        <p:spPr>
          <a:xfrm>
            <a:off x="4507992" y="13624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BOOKING LEAD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CFFD4-C4B1-4122-B8E9-094893778C24}"/>
              </a:ext>
            </a:extLst>
          </p:cNvPr>
          <p:cNvSpPr txBox="1"/>
          <p:nvPr/>
        </p:nvSpPr>
        <p:spPr>
          <a:xfrm>
            <a:off x="4507992" y="1764792"/>
            <a:ext cx="3145536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b="0" dirty="0">
                <a:solidFill>
                  <a:srgbClr val="F5F7FA"/>
                </a:solidFill>
                <a:latin typeface="Aptos"/>
              </a:rPr>
              <a:t>94% recall for &gt;30 days vs 23% fo</a:t>
            </a:r>
            <a:r>
              <a:rPr lang="en-US" sz="1150" dirty="0">
                <a:solidFill>
                  <a:srgbClr val="F5F7FA"/>
                </a:solidFill>
                <a:latin typeface="Aptos"/>
              </a:rPr>
              <a:t>r ≤ 30 days</a:t>
            </a:r>
            <a:endParaRPr sz="115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CF41D679-5843-4931-81A4-2EE0DFC7C55B}"/>
              </a:ext>
            </a:extLst>
          </p:cNvPr>
          <p:cNvSpPr/>
          <p:nvPr/>
        </p:nvSpPr>
        <p:spPr>
          <a:xfrm>
            <a:off x="8092440" y="12344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C1907-BD94-4BD7-9889-D0BED52278B8}"/>
              </a:ext>
            </a:extLst>
          </p:cNvPr>
          <p:cNvSpPr txBox="1"/>
          <p:nvPr/>
        </p:nvSpPr>
        <p:spPr>
          <a:xfrm>
            <a:off x="8257031" y="1362456"/>
            <a:ext cx="31455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F17A3A"/>
                </a:solidFill>
                <a:latin typeface="Aptos"/>
              </a:rPr>
              <a:t>Diagnostic Tests</a:t>
            </a:r>
            <a:endParaRPr sz="1200" b="1" dirty="0">
              <a:solidFill>
                <a:srgbClr val="F17A3A"/>
              </a:solidFill>
              <a:latin typeface="Apto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373CAB-31B9-4041-9751-EB177251A227}"/>
              </a:ext>
            </a:extLst>
          </p:cNvPr>
          <p:cNvSpPr txBox="1"/>
          <p:nvPr/>
        </p:nvSpPr>
        <p:spPr>
          <a:xfrm>
            <a:off x="8257031" y="1764792"/>
            <a:ext cx="3145536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b="0" dirty="0">
                <a:solidFill>
                  <a:srgbClr val="F5F7FA"/>
                </a:solidFill>
                <a:latin typeface="Aptos"/>
              </a:rPr>
              <a:t>80% recall</a:t>
            </a:r>
            <a:endParaRPr sz="115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D8916DB8-81EF-405C-B4D9-480FEEA4BE55}"/>
              </a:ext>
            </a:extLst>
          </p:cNvPr>
          <p:cNvSpPr/>
          <p:nvPr/>
        </p:nvSpPr>
        <p:spPr>
          <a:xfrm>
            <a:off x="594360" y="32918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450962-E46D-4068-8A49-1DCCEA9B3E78}"/>
              </a:ext>
            </a:extLst>
          </p:cNvPr>
          <p:cNvSpPr txBox="1"/>
          <p:nvPr/>
        </p:nvSpPr>
        <p:spPr>
          <a:xfrm>
            <a:off x="758952" y="3419856"/>
            <a:ext cx="31455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3AB2AA"/>
                </a:solidFill>
                <a:latin typeface="Aptos"/>
              </a:rPr>
              <a:t>Specialist Consultations</a:t>
            </a:r>
            <a:endParaRPr sz="1200" b="1" dirty="0">
              <a:solidFill>
                <a:srgbClr val="3AB2AA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22EA5-190F-484C-A5FC-5438E5AE1D34}"/>
              </a:ext>
            </a:extLst>
          </p:cNvPr>
          <p:cNvSpPr txBox="1"/>
          <p:nvPr/>
        </p:nvSpPr>
        <p:spPr>
          <a:xfrm>
            <a:off x="758952" y="3822191"/>
            <a:ext cx="3145536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b="0" dirty="0">
                <a:solidFill>
                  <a:srgbClr val="F5F7FA"/>
                </a:solidFill>
                <a:latin typeface="Aptos"/>
              </a:rPr>
              <a:t>53% Recall</a:t>
            </a:r>
            <a:endParaRPr sz="115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183400C5-6435-4EF3-938D-0FD8D225362F}"/>
              </a:ext>
            </a:extLst>
          </p:cNvPr>
          <p:cNvSpPr/>
          <p:nvPr/>
        </p:nvSpPr>
        <p:spPr>
          <a:xfrm>
            <a:off x="4343400" y="32918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E1572A-46DB-45A3-9114-4E63D2032801}"/>
              </a:ext>
            </a:extLst>
          </p:cNvPr>
          <p:cNvSpPr txBox="1"/>
          <p:nvPr/>
        </p:nvSpPr>
        <p:spPr>
          <a:xfrm>
            <a:off x="4507992" y="3419856"/>
            <a:ext cx="31455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3591E6"/>
                </a:solidFill>
                <a:latin typeface="Aptos"/>
              </a:rPr>
              <a:t>Tuned Model</a:t>
            </a:r>
            <a:endParaRPr sz="12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733E38-67D6-43A1-8E0B-A77203EE1A33}"/>
              </a:ext>
            </a:extLst>
          </p:cNvPr>
          <p:cNvSpPr txBox="1"/>
          <p:nvPr/>
        </p:nvSpPr>
        <p:spPr>
          <a:xfrm>
            <a:off x="4507992" y="3822191"/>
            <a:ext cx="3145536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b="0" dirty="0">
                <a:solidFill>
                  <a:srgbClr val="F5F7FA"/>
                </a:solidFill>
                <a:latin typeface="Aptos"/>
              </a:rPr>
              <a:t>AUC 0.72</a:t>
            </a:r>
            <a:endParaRPr sz="115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9956F4DB-E09D-45C0-A83A-03531FEE740B}"/>
              </a:ext>
            </a:extLst>
          </p:cNvPr>
          <p:cNvSpPr/>
          <p:nvPr/>
        </p:nvSpPr>
        <p:spPr>
          <a:xfrm>
            <a:off x="594360" y="5486400"/>
            <a:ext cx="10789920" cy="59436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4306D7-A3C5-44E9-9067-F38AB21B06FA}"/>
              </a:ext>
            </a:extLst>
          </p:cNvPr>
          <p:cNvSpPr txBox="1"/>
          <p:nvPr/>
        </p:nvSpPr>
        <p:spPr>
          <a:xfrm>
            <a:off x="754380" y="5568136"/>
            <a:ext cx="103327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EC3CD"/>
                </a:solidFill>
                <a:latin typeface="Aptos"/>
              </a:rPr>
              <a:t>Data Analytics: validates underlying no-show rates</a:t>
            </a:r>
          </a:p>
          <a:p>
            <a:pPr algn="l"/>
            <a:r>
              <a:rPr lang="en-US" sz="1200" dirty="0">
                <a:solidFill>
                  <a:srgbClr val="BEC3CD"/>
                </a:solidFill>
                <a:latin typeface="Aptos"/>
              </a:rPr>
              <a:t>Data Science: evaluates predictive performance</a:t>
            </a:r>
            <a:endParaRPr sz="12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85DEF7-462C-4CB9-8CA4-3DA38D8F3C64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6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22663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221874-859D-40F9-874A-4190A711F7D2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4E3FB-0829-436F-AF23-40CCDE27B523}"/>
              </a:ext>
            </a:extLst>
          </p:cNvPr>
          <p:cNvSpPr txBox="1"/>
          <p:nvPr/>
        </p:nvSpPr>
        <p:spPr>
          <a:xfrm>
            <a:off x="502920" y="320040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91E6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3591E6"/>
                </a:solidFill>
                <a:latin typeface="Aptos"/>
              </a:rPr>
              <a:t>7</a:t>
            </a:r>
            <a:endParaRPr sz="11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D5024-13F8-473D-BDBB-D3CC6F73F188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</a:rPr>
              <a:t>Model vs Analytics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40E8C-26F0-47B9-8BD8-49F5A54D8994}"/>
              </a:ext>
            </a:extLst>
          </p:cNvPr>
          <p:cNvSpPr txBox="1"/>
          <p:nvPr/>
        </p:nvSpPr>
        <p:spPr>
          <a:xfrm>
            <a:off x="1097280" y="641734"/>
            <a:ext cx="10424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>
                <a:solidFill>
                  <a:srgbClr val="BEC3CD"/>
                </a:solidFill>
                <a:latin typeface="Aptos"/>
              </a:rPr>
              <a:t>What was Learned From Both Track</a:t>
            </a:r>
            <a:endParaRPr sz="1100" b="0" dirty="0">
              <a:solidFill>
                <a:srgbClr val="BEC3CD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6B145-7AA7-410A-B2FD-2599150C0CDD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dirty="0">
                <a:solidFill>
                  <a:srgbClr val="969AA4"/>
                </a:solidFill>
                <a:latin typeface="Aptos"/>
              </a:rPr>
              <a:t>7 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  <p:graphicFrame>
        <p:nvGraphicFramePr>
          <p:cNvPr id="7" name="Table 20">
            <a:extLst>
              <a:ext uri="{FF2B5EF4-FFF2-40B4-BE49-F238E27FC236}">
                <a16:creationId xmlns:a16="http://schemas.microsoft.com/office/drawing/2014/main" id="{56B70C16-A212-40D5-850D-12FAD4B1A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592934"/>
              </p:ext>
            </p:extLst>
          </p:nvPr>
        </p:nvGraphicFramePr>
        <p:xfrm>
          <a:off x="1385888" y="1239451"/>
          <a:ext cx="9301162" cy="3446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0581">
                  <a:extLst>
                    <a:ext uri="{9D8B030D-6E8A-4147-A177-3AD203B41FA5}">
                      <a16:colId xmlns:a16="http://schemas.microsoft.com/office/drawing/2014/main" val="694627389"/>
                    </a:ext>
                  </a:extLst>
                </a:gridCol>
                <a:gridCol w="4650581">
                  <a:extLst>
                    <a:ext uri="{9D8B030D-6E8A-4147-A177-3AD203B41FA5}">
                      <a16:colId xmlns:a16="http://schemas.microsoft.com/office/drawing/2014/main" val="2112021879"/>
                    </a:ext>
                  </a:extLst>
                </a:gridCol>
              </a:tblGrid>
              <a:tr h="7714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Analytics</a:t>
                      </a:r>
                    </a:p>
                    <a:p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Science</a:t>
                      </a:r>
                    </a:p>
                    <a:p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013271"/>
                  </a:ext>
                </a:extLst>
              </a:tr>
              <a:tr h="44080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Patterns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predictive performance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572838"/>
                  </a:ext>
                </a:extLst>
              </a:tr>
              <a:tr h="44692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lead time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Strongly difference in model recall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98197"/>
                  </a:ext>
                </a:extLst>
              </a:tr>
              <a:tr h="44692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Previous no-show history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recall among patients with history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38170"/>
                  </a:ext>
                </a:extLst>
              </a:tr>
              <a:tr h="44692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Reminder patterns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model performance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290559"/>
                  </a:ext>
                </a:extLst>
              </a:tr>
              <a:tr h="44692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Appointment type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varied by type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64791"/>
                  </a:ext>
                </a:extLst>
              </a:tr>
              <a:tr h="446927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674746"/>
                  </a:ext>
                </a:extLst>
              </a:tr>
            </a:tbl>
          </a:graphicData>
        </a:graphic>
      </p:graphicFrame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F4F6D951-6FC4-400F-8CBE-D50A46103455}"/>
              </a:ext>
            </a:extLst>
          </p:cNvPr>
          <p:cNvSpPr/>
          <p:nvPr/>
        </p:nvSpPr>
        <p:spPr>
          <a:xfrm>
            <a:off x="1103788" y="5429811"/>
            <a:ext cx="9784080" cy="599514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6FAB7-1DAC-486E-BBA7-1B5EA26206D6}"/>
              </a:ext>
            </a:extLst>
          </p:cNvPr>
          <p:cNvSpPr txBox="1"/>
          <p:nvPr/>
        </p:nvSpPr>
        <p:spPr>
          <a:xfrm>
            <a:off x="1341120" y="5406402"/>
            <a:ext cx="9509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Descriptive analysis identified important patterns that Data Science subsequently tested through predictive modelling</a:t>
            </a:r>
            <a:endParaRPr sz="17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49420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063E9-F064-469D-AA5B-2FDE89787542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B445E-72C4-4969-9522-8954A630B6F8}"/>
              </a:ext>
            </a:extLst>
          </p:cNvPr>
          <p:cNvSpPr txBox="1"/>
          <p:nvPr/>
        </p:nvSpPr>
        <p:spPr>
          <a:xfrm>
            <a:off x="502920" y="320040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91E6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3591E6"/>
                </a:solidFill>
                <a:latin typeface="Aptos"/>
              </a:rPr>
              <a:t>8</a:t>
            </a:r>
            <a:endParaRPr sz="11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18F41-81DC-46C8-ABBF-CDC012EB2B99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49E94-835D-41BF-A000-8454570FB1FD}"/>
              </a:ext>
            </a:extLst>
          </p:cNvPr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Updated Power BI decision-support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22AA8-FAAF-4A11-8937-F32C4B8543A2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8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94123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7E409C-DB52-464E-AE09-A52A2609A81A}"/>
              </a:ext>
            </a:extLst>
          </p:cNvPr>
          <p:cNvSpPr/>
          <p:nvPr/>
        </p:nvSpPr>
        <p:spPr>
          <a:xfrm>
            <a:off x="0" y="-1387716"/>
            <a:ext cx="12192000" cy="8245715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53AA0-4211-4C16-8930-87B8EBA2FABC}"/>
              </a:ext>
            </a:extLst>
          </p:cNvPr>
          <p:cNvSpPr txBox="1"/>
          <p:nvPr/>
        </p:nvSpPr>
        <p:spPr>
          <a:xfrm>
            <a:off x="624840" y="275575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91E6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3591E6"/>
                </a:solidFill>
                <a:latin typeface="Aptos"/>
              </a:rPr>
              <a:t>9</a:t>
            </a:r>
            <a:endParaRPr sz="11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4C48D-9588-44EA-9E8B-7059773428E8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AND LIMITATION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181F9E7E-5796-4898-8D19-6E87A8C64508}"/>
              </a:ext>
            </a:extLst>
          </p:cNvPr>
          <p:cNvSpPr/>
          <p:nvPr/>
        </p:nvSpPr>
        <p:spPr>
          <a:xfrm>
            <a:off x="169545" y="1258454"/>
            <a:ext cx="5303520" cy="2033386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075AB-B41C-4D0B-9F18-85AADF73BA89}"/>
              </a:ext>
            </a:extLst>
          </p:cNvPr>
          <p:cNvSpPr txBox="1"/>
          <p:nvPr/>
        </p:nvSpPr>
        <p:spPr>
          <a:xfrm>
            <a:off x="758952" y="1362456"/>
            <a:ext cx="49743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3AB2AA"/>
                </a:solidFill>
                <a:latin typeface="Aptos"/>
              </a:rPr>
              <a:t>Issued Identified</a:t>
            </a:r>
            <a:endParaRPr sz="1200" b="1" dirty="0">
              <a:solidFill>
                <a:srgbClr val="3AB2AA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443D4-E0DE-4F34-A173-77F43A0A54F9}"/>
              </a:ext>
            </a:extLst>
          </p:cNvPr>
          <p:cNvSpPr txBox="1"/>
          <p:nvPr/>
        </p:nvSpPr>
        <p:spPr>
          <a:xfrm>
            <a:off x="758952" y="1764792"/>
            <a:ext cx="497433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1.</a:t>
            </a:r>
            <a:r>
              <a:rPr lang="en-US" sz="1200" b="0" dirty="0">
                <a:solidFill>
                  <a:srgbClr val="F5F7FA"/>
                </a:solidFill>
                <a:latin typeface="Aptos"/>
              </a:rPr>
              <a:t> SQL and Power BI/Excel KPI results require reconciliation.</a:t>
            </a:r>
          </a:p>
          <a:p>
            <a:pPr algn="l"/>
            <a:r>
              <a:rPr lang="en-US" sz="1200" dirty="0">
                <a:solidFill>
                  <a:srgbClr val="F5F7FA"/>
                </a:solidFill>
                <a:latin typeface="Aptos"/>
              </a:rPr>
              <a:t>2. Missing values require continued consideration</a:t>
            </a:r>
          </a:p>
          <a:p>
            <a:pPr algn="l"/>
            <a:r>
              <a:rPr lang="en-US" sz="1200" b="0" dirty="0">
                <a:solidFill>
                  <a:srgbClr val="F5F7FA"/>
                </a:solidFill>
                <a:latin typeface="Aptos"/>
              </a:rPr>
              <a:t>3. Dataset is fictional</a:t>
            </a:r>
          </a:p>
          <a:p>
            <a:pPr algn="l"/>
            <a:r>
              <a:rPr lang="en-US" sz="1200" dirty="0">
                <a:solidFill>
                  <a:srgbClr val="F5F7FA"/>
                </a:solidFill>
                <a:latin typeface="Aptos"/>
              </a:rPr>
              <a:t>4. Available variables may not capture all attendance factors.</a:t>
            </a:r>
          </a:p>
          <a:p>
            <a:pPr algn="l"/>
            <a:r>
              <a:rPr lang="en-US" sz="1200" b="0" dirty="0">
                <a:solidFill>
                  <a:srgbClr val="F5F7FA"/>
                </a:solidFill>
                <a:latin typeface="Aptos"/>
              </a:rPr>
              <a:t>5. Asso</a:t>
            </a:r>
            <a:r>
              <a:rPr lang="en-US" sz="1200" dirty="0">
                <a:solidFill>
                  <a:srgbClr val="F5F7FA"/>
                </a:solidFill>
                <a:latin typeface="Aptos"/>
              </a:rPr>
              <a:t>ciation does not establish causation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
.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24BC3D7-2800-4984-B4CF-0BAD86FAE93E}"/>
              </a:ext>
            </a:extLst>
          </p:cNvPr>
          <p:cNvSpPr/>
          <p:nvPr/>
        </p:nvSpPr>
        <p:spPr>
          <a:xfrm>
            <a:off x="6172200" y="1234446"/>
            <a:ext cx="5303520" cy="2057394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D0A6A-7A93-4C16-865C-E76FADCE6970}"/>
              </a:ext>
            </a:extLst>
          </p:cNvPr>
          <p:cNvSpPr txBox="1"/>
          <p:nvPr/>
        </p:nvSpPr>
        <p:spPr>
          <a:xfrm>
            <a:off x="633679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CHALLENGES / REMAINING ISSUES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238E8-1240-41E9-B6B7-F8178FED1544}"/>
              </a:ext>
            </a:extLst>
          </p:cNvPr>
          <p:cNvSpPr txBox="1"/>
          <p:nvPr/>
        </p:nvSpPr>
        <p:spPr>
          <a:xfrm>
            <a:off x="6336792" y="1764792"/>
            <a:ext cx="4974336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Missing distance and waiting-time values.
• Reasons for missed appointments are not captured.
• Some relationships need further validation.
• Risk of overinterpreting associations.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C1BDC-BA1C-4FF0-B76B-79064A7CEEF3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9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47A2E3-941D-4624-BFC3-E39409AF7EE7}"/>
              </a:ext>
            </a:extLst>
          </p:cNvPr>
          <p:cNvGrpSpPr/>
          <p:nvPr/>
        </p:nvGrpSpPr>
        <p:grpSpPr>
          <a:xfrm>
            <a:off x="493872" y="5322415"/>
            <a:ext cx="11204257" cy="524245"/>
            <a:chOff x="271463" y="5322415"/>
            <a:chExt cx="11204257" cy="52424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D959909-9FD6-4CFF-85DD-3404F567D7DB}"/>
                </a:ext>
              </a:extLst>
            </p:cNvPr>
            <p:cNvSpPr/>
            <p:nvPr/>
          </p:nvSpPr>
          <p:spPr>
            <a:xfrm>
              <a:off x="271463" y="5322415"/>
              <a:ext cx="11204257" cy="524245"/>
            </a:xfrm>
            <a:prstGeom prst="roundRect">
              <a:avLst/>
            </a:prstGeom>
            <a:solidFill>
              <a:srgbClr val="3035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89CD1F-EDB2-4AC7-980B-F770539EC5BA}"/>
                </a:ext>
              </a:extLst>
            </p:cNvPr>
            <p:cNvSpPr txBox="1"/>
            <p:nvPr/>
          </p:nvSpPr>
          <p:spPr>
            <a:xfrm>
              <a:off x="1206517" y="5375725"/>
              <a:ext cx="1705932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2400" b="0" dirty="0">
                  <a:solidFill>
                    <a:srgbClr val="F5F7FA"/>
                  </a:solidFill>
                  <a:latin typeface="Aptos"/>
                </a:rPr>
                <a:t>Recheck</a:t>
              </a:r>
              <a:endParaRPr sz="2400" b="0" dirty="0">
                <a:solidFill>
                  <a:srgbClr val="F5F7FA"/>
                </a:solidFill>
                <a:latin typeface="Aptos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8D36B6F5-D9D8-4F3D-82FD-15EED43BB3CD}"/>
                </a:ext>
              </a:extLst>
            </p:cNvPr>
            <p:cNvSpPr/>
            <p:nvPr/>
          </p:nvSpPr>
          <p:spPr>
            <a:xfrm flipV="1">
              <a:off x="3247192" y="5416019"/>
              <a:ext cx="379811" cy="36431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B1CAEB-CC66-4420-A8EE-191B5569D3BC}"/>
                </a:ext>
              </a:extLst>
            </p:cNvPr>
            <p:cNvSpPr txBox="1"/>
            <p:nvPr/>
          </p:nvSpPr>
          <p:spPr>
            <a:xfrm>
              <a:off x="4055594" y="5336452"/>
              <a:ext cx="1705931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2400" b="0" dirty="0">
                  <a:solidFill>
                    <a:srgbClr val="F5F7FA"/>
                  </a:solidFill>
                  <a:latin typeface="Aptos"/>
                </a:rPr>
                <a:t>Reconcile</a:t>
              </a:r>
              <a:endParaRPr sz="2400" b="0" dirty="0">
                <a:solidFill>
                  <a:srgbClr val="F5F7FA"/>
                </a:solidFill>
                <a:latin typeface="Apto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52ABF6-5B4A-49AF-B06E-CF890A758A34}"/>
                </a:ext>
              </a:extLst>
            </p:cNvPr>
            <p:cNvSpPr txBox="1"/>
            <p:nvPr/>
          </p:nvSpPr>
          <p:spPr>
            <a:xfrm>
              <a:off x="6651484" y="5374134"/>
              <a:ext cx="1481772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2400" b="0" dirty="0">
                  <a:solidFill>
                    <a:srgbClr val="F5F7FA"/>
                  </a:solidFill>
                  <a:latin typeface="Aptos"/>
                </a:rPr>
                <a:t>Document</a:t>
              </a:r>
              <a:endParaRPr sz="2400" b="0" dirty="0">
                <a:solidFill>
                  <a:srgbClr val="F5F7FA"/>
                </a:solidFill>
                <a:latin typeface="Apto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C8A483-8745-428F-A08B-CE85A5E1D60C}"/>
                </a:ext>
              </a:extLst>
            </p:cNvPr>
            <p:cNvSpPr txBox="1"/>
            <p:nvPr/>
          </p:nvSpPr>
          <p:spPr>
            <a:xfrm>
              <a:off x="9294696" y="5344417"/>
              <a:ext cx="1191578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2400" b="0" dirty="0">
                  <a:solidFill>
                    <a:srgbClr val="F5F7FA"/>
                  </a:solidFill>
                  <a:latin typeface="Aptos"/>
                </a:rPr>
                <a:t>Retest</a:t>
              </a:r>
              <a:endParaRPr sz="2400" b="0" dirty="0">
                <a:solidFill>
                  <a:srgbClr val="F5F7FA"/>
                </a:solidFill>
                <a:latin typeface="Aptos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CB082C98-6E21-4218-BAF0-56F6BA7481E4}"/>
                </a:ext>
              </a:extLst>
            </p:cNvPr>
            <p:cNvSpPr/>
            <p:nvPr/>
          </p:nvSpPr>
          <p:spPr>
            <a:xfrm flipV="1">
              <a:off x="6000210" y="5393093"/>
              <a:ext cx="379811" cy="36431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F7B46AA5-EE7F-4DF8-9C8F-D4E7600C1F78}"/>
                </a:ext>
              </a:extLst>
            </p:cNvPr>
            <p:cNvSpPr/>
            <p:nvPr/>
          </p:nvSpPr>
          <p:spPr>
            <a:xfrm flipV="1">
              <a:off x="8610601" y="5370421"/>
              <a:ext cx="379811" cy="36431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732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969650-9DCF-437E-BB6A-79039232E4D6}"/>
              </a:ext>
            </a:extLst>
          </p:cNvPr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A2CCC-D7AF-4132-899A-37CA0A0B5C87}"/>
              </a:ext>
            </a:extLst>
          </p:cNvPr>
          <p:cNvSpPr txBox="1"/>
          <p:nvPr/>
        </p:nvSpPr>
        <p:spPr>
          <a:xfrm>
            <a:off x="426720" y="276890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3591E6"/>
                </a:solidFill>
                <a:latin typeface="Aptos"/>
              </a:rPr>
              <a:t>10</a:t>
            </a:r>
            <a:endParaRPr sz="1100" b="1" dirty="0">
              <a:solidFill>
                <a:srgbClr val="3591E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CF078-80CA-4E25-AB47-ED54EDD6C663}"/>
              </a:ext>
            </a:extLst>
          </p:cNvPr>
          <p:cNvSpPr txBox="1"/>
          <p:nvPr/>
        </p:nvSpPr>
        <p:spPr>
          <a:xfrm>
            <a:off x="1051560" y="256032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NEXT STEPS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AB669186-3CD0-4A44-AC26-8394A5946063}"/>
              </a:ext>
            </a:extLst>
          </p:cNvPr>
          <p:cNvSpPr/>
          <p:nvPr/>
        </p:nvSpPr>
        <p:spPr>
          <a:xfrm>
            <a:off x="594360" y="1234440"/>
            <a:ext cx="5303520" cy="361188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0B086-BE10-4641-8E28-351F9C25E1C8}"/>
              </a:ext>
            </a:extLst>
          </p:cNvPr>
          <p:cNvSpPr txBox="1"/>
          <p:nvPr/>
        </p:nvSpPr>
        <p:spPr>
          <a:xfrm>
            <a:off x="758952" y="1362456"/>
            <a:ext cx="49743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3AB2AA"/>
                </a:solidFill>
                <a:latin typeface="Aptos"/>
              </a:rPr>
              <a:t>Key Takeaways</a:t>
            </a:r>
            <a:endParaRPr sz="1200" b="1" dirty="0">
              <a:solidFill>
                <a:srgbClr val="3AB2AA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F3AEC-C0F3-4CE9-8D92-40A66400561D}"/>
              </a:ext>
            </a:extLst>
          </p:cNvPr>
          <p:cNvSpPr txBox="1"/>
          <p:nvPr/>
        </p:nvSpPr>
        <p:spPr>
          <a:xfrm>
            <a:off x="758952" y="1764792"/>
            <a:ext cx="497433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Previous no-show history remains an important signal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5F7FA"/>
                </a:solidFill>
                <a:latin typeface="Aptos"/>
              </a:rPr>
              <a:t>Booking lead time requires further validation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Model performance va</a:t>
            </a:r>
            <a:r>
              <a:rPr lang="en-US" sz="1400" dirty="0">
                <a:solidFill>
                  <a:srgbClr val="F5F7FA"/>
                </a:solidFill>
                <a:latin typeface="Aptos"/>
              </a:rPr>
              <a:t>ries across appointment groups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Data Science findings support several </a:t>
            </a:r>
            <a:r>
              <a:rPr lang="en-US" sz="1400" dirty="0">
                <a:solidFill>
                  <a:srgbClr val="F5F7FA"/>
                </a:solidFill>
                <a:latin typeface="Aptos"/>
              </a:rPr>
              <a:t>data analytics observations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Cross-tool KPI consistency still need</a:t>
            </a:r>
            <a:r>
              <a:rPr lang="en-US" sz="1400" dirty="0">
                <a:solidFill>
                  <a:srgbClr val="F5F7FA"/>
                </a:solidFill>
                <a:latin typeface="Aptos"/>
              </a:rPr>
              <a:t>s to be full reconciled</a:t>
            </a:r>
            <a:endParaRPr sz="14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9B3BAE2B-CD89-44BA-BD78-0FB7AAACCD52}"/>
              </a:ext>
            </a:extLst>
          </p:cNvPr>
          <p:cNvSpPr/>
          <p:nvPr/>
        </p:nvSpPr>
        <p:spPr>
          <a:xfrm>
            <a:off x="6172200" y="1234440"/>
            <a:ext cx="5303520" cy="361188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70E8F-D740-4CBD-B8CF-597F8436E691}"/>
              </a:ext>
            </a:extLst>
          </p:cNvPr>
          <p:cNvSpPr txBox="1"/>
          <p:nvPr/>
        </p:nvSpPr>
        <p:spPr>
          <a:xfrm>
            <a:off x="6336792" y="1362456"/>
            <a:ext cx="49743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3591E6"/>
                </a:solidFill>
                <a:latin typeface="Aptos"/>
              </a:rPr>
              <a:t>WEEK </a:t>
            </a:r>
            <a:r>
              <a:rPr lang="en-US" sz="1200" b="1" dirty="0">
                <a:solidFill>
                  <a:srgbClr val="3591E6"/>
                </a:solidFill>
                <a:latin typeface="Aptos"/>
              </a:rPr>
              <a:t>8 A</a:t>
            </a:r>
            <a:r>
              <a:rPr sz="1200" b="1" dirty="0">
                <a:solidFill>
                  <a:srgbClr val="3591E6"/>
                </a:solidFill>
                <a:latin typeface="Aptos"/>
              </a:rPr>
              <a:t>NALYTICAL 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9A2E8-01D4-4A2A-A271-5286EF43D37F}"/>
              </a:ext>
            </a:extLst>
          </p:cNvPr>
          <p:cNvSpPr txBox="1"/>
          <p:nvPr/>
        </p:nvSpPr>
        <p:spPr>
          <a:xfrm>
            <a:off x="6336792" y="1764792"/>
            <a:ext cx="497433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5F7FA"/>
                </a:solidFill>
                <a:latin typeface="Aptos"/>
              </a:rPr>
              <a:t>Reconcile SQL and Power BI/Excel denominations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Continue testin</a:t>
            </a:r>
            <a:r>
              <a:rPr lang="en-US" sz="1400" dirty="0">
                <a:solidFill>
                  <a:srgbClr val="F5F7FA"/>
                </a:solidFill>
                <a:latin typeface="Aptos"/>
              </a:rPr>
              <a:t>g booking lead time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Further investigation previous no-show history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5F7FA"/>
                </a:solidFill>
                <a:latin typeface="Aptos"/>
              </a:rPr>
              <a:t>Refine dashboard based on validated findings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F5F7FA"/>
                </a:solidFill>
                <a:latin typeface="Aptos"/>
              </a:rPr>
              <a:t>Integrate relevant Data Science outputs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5F7FA"/>
                </a:solidFill>
                <a:latin typeface="Aptos"/>
              </a:rPr>
              <a:t>Document final analytical conclusions and limitations</a:t>
            </a:r>
            <a:endParaRPr sz="14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1" name="Rounded Rectangle 24">
            <a:extLst>
              <a:ext uri="{FF2B5EF4-FFF2-40B4-BE49-F238E27FC236}">
                <a16:creationId xmlns:a16="http://schemas.microsoft.com/office/drawing/2014/main" id="{F1C1EA48-33BF-430A-9203-8956770F1CF4}"/>
              </a:ext>
            </a:extLst>
          </p:cNvPr>
          <p:cNvSpPr/>
          <p:nvPr/>
        </p:nvSpPr>
        <p:spPr>
          <a:xfrm>
            <a:off x="594360" y="5166360"/>
            <a:ext cx="10789920" cy="73152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BE3C4-1C13-4D73-9DB3-F151B232DDDA}"/>
              </a:ext>
            </a:extLst>
          </p:cNvPr>
          <p:cNvSpPr txBox="1"/>
          <p:nvPr/>
        </p:nvSpPr>
        <p:spPr>
          <a:xfrm>
            <a:off x="807720" y="5349240"/>
            <a:ext cx="102412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500" b="1" dirty="0">
                <a:solidFill>
                  <a:srgbClr val="F5F7FA"/>
                </a:solidFill>
                <a:latin typeface="Aptos"/>
              </a:rPr>
              <a:t>Week 7 moved the project from identifying pattens to testing validating and integrating those findings across analytical and predictive approaches</a:t>
            </a:r>
            <a:endParaRPr sz="15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49F45-7D07-46DD-B0CC-711859A4EA96}"/>
              </a:ext>
            </a:extLst>
          </p:cNvPr>
          <p:cNvSpPr txBox="1"/>
          <p:nvPr/>
        </p:nvSpPr>
        <p:spPr>
          <a:xfrm>
            <a:off x="502920" y="6510528"/>
            <a:ext cx="4572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969AA4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| Week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7</a:t>
            </a:r>
            <a:r>
              <a:rPr sz="800" b="0" dirty="0">
                <a:solidFill>
                  <a:srgbClr val="969AA4"/>
                </a:solidFill>
                <a:latin typeface="Aptos"/>
              </a:rPr>
              <a:t> Project Summary  •  </a:t>
            </a:r>
            <a:r>
              <a:rPr lang="en-US" sz="800" b="0" dirty="0">
                <a:solidFill>
                  <a:srgbClr val="969AA4"/>
                </a:solidFill>
                <a:latin typeface="Aptos"/>
              </a:rPr>
              <a:t>10</a:t>
            </a:r>
            <a:endParaRPr sz="800" b="0" dirty="0">
              <a:solidFill>
                <a:srgbClr val="969AA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1870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695</Words>
  <Application>Microsoft Office PowerPoint</Application>
  <PresentationFormat>Widescreen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2026-09-20T15:13:05Z</dcterms:created>
  <dcterms:modified xsi:type="dcterms:W3CDTF">2026-09-20T15:22:52Z</dcterms:modified>
</cp:coreProperties>
</file>