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3" r:id="rId5"/>
    <p:sldId id="262" r:id="rId6"/>
    <p:sldId id="261" r:id="rId7"/>
    <p:sldId id="260" r:id="rId8"/>
    <p:sldId id="259" r:id="rId9"/>
    <p:sldId id="258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1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2AC9-0CEF-46FA-B372-6A12F27517D2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173CA-733E-40A0-AB39-88B558C27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253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2AC9-0CEF-46FA-B372-6A12F27517D2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173CA-733E-40A0-AB39-88B558C27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409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2AC9-0CEF-46FA-B372-6A12F27517D2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173CA-733E-40A0-AB39-88B558C27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335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2AC9-0CEF-46FA-B372-6A12F27517D2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173CA-733E-40A0-AB39-88B558C27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696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2AC9-0CEF-46FA-B372-6A12F27517D2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173CA-733E-40A0-AB39-88B558C27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285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2AC9-0CEF-46FA-B372-6A12F27517D2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173CA-733E-40A0-AB39-88B558C27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098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2AC9-0CEF-46FA-B372-6A12F27517D2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173CA-733E-40A0-AB39-88B558C27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714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2AC9-0CEF-46FA-B372-6A12F27517D2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173CA-733E-40A0-AB39-88B558C27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125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2AC9-0CEF-46FA-B372-6A12F27517D2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173CA-733E-40A0-AB39-88B558C27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624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2AC9-0CEF-46FA-B372-6A12F27517D2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173CA-733E-40A0-AB39-88B558C27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50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2AC9-0CEF-46FA-B372-6A12F27517D2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173CA-733E-40A0-AB39-88B558C27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890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212AC9-0CEF-46FA-B372-6A12F27517D2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173CA-733E-40A0-AB39-88B558C27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233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-1387737"/>
            <a:ext cx="12192000" cy="8245737"/>
          </a:xfrm>
          <a:prstGeom prst="rect">
            <a:avLst/>
          </a:prstGeom>
          <a:solidFill>
            <a:srgbClr val="161D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60381" y="-357691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591E6"/>
                </a:solidFill>
                <a:latin typeface="Aptos"/>
              </a:rPr>
              <a:t>HEALTHCONNECT CLINIC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381" y="282389"/>
            <a:ext cx="107899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dirty="0">
                <a:solidFill>
                  <a:srgbClr val="F5F7FA"/>
                </a:solidFill>
                <a:latin typeface="Aptos"/>
              </a:rPr>
              <a:t>WEEK 6
PROJECT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8669" y="1745429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AB2AA"/>
                </a:solidFill>
                <a:latin typeface="Aptos"/>
              </a:rPr>
              <a:t>Data Analytics Track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669" y="2202629"/>
            <a:ext cx="8229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BEC3CD"/>
                </a:solidFill>
                <a:latin typeface="Aptos"/>
              </a:rPr>
              <a:t>Appointment Attendance &amp; No-Show Analysis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9357" y="5646420"/>
            <a:ext cx="5212080" cy="822960"/>
          </a:xfrm>
          <a:prstGeom prst="roundRect">
            <a:avLst/>
          </a:prstGeom>
          <a:solidFill>
            <a:srgbClr val="3D4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7957" y="587502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F5F7FA"/>
                </a:solidFill>
                <a:latin typeface="Aptos"/>
              </a:rPr>
              <a:t>Prepared by: </a:t>
            </a:r>
            <a:r>
              <a:rPr sz="1200" b="1" dirty="0" err="1">
                <a:solidFill>
                  <a:srgbClr val="F5F7FA"/>
                </a:solidFill>
                <a:latin typeface="Aptos"/>
              </a:rPr>
              <a:t>Dawodu</a:t>
            </a:r>
            <a:r>
              <a:rPr sz="1200" b="1" dirty="0">
                <a:solidFill>
                  <a:srgbClr val="F5F7FA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F5F7FA"/>
                </a:solidFill>
                <a:latin typeface="Aptos"/>
              </a:rPr>
              <a:t>Fehintoluwa</a:t>
            </a:r>
            <a:r>
              <a:rPr sz="1200" b="1" dirty="0">
                <a:solidFill>
                  <a:srgbClr val="F5F7FA"/>
                </a:solidFill>
                <a:latin typeface="Aptos"/>
              </a:rPr>
              <a:t> Bukola</a:t>
            </a:r>
          </a:p>
        </p:txBody>
      </p:sp>
    </p:spTree>
    <p:extLst>
      <p:ext uri="{BB962C8B-B14F-4D97-AF65-F5344CB8AC3E}">
        <p14:creationId xmlns:p14="http://schemas.microsoft.com/office/powerpoint/2010/main" val="2146742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-1387738"/>
            <a:ext cx="12192000" cy="8245737"/>
          </a:xfrm>
          <a:prstGeom prst="rect">
            <a:avLst/>
          </a:prstGeom>
          <a:solidFill>
            <a:srgbClr val="161D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591E6"/>
                </a:solidFill>
                <a:latin typeface="Aptos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ptos"/>
              </a:rPr>
              <a:t>What I Planned to Accomplish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749808"/>
            <a:ext cx="10424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EC3CD"/>
                </a:solidFill>
                <a:latin typeface="Aptos"/>
              </a:rPr>
              <a:t>Building directly on Week 5 rather than repeating 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1325880"/>
            <a:ext cx="3520440" cy="1874519"/>
          </a:xfrm>
          <a:prstGeom prst="roundRect">
            <a:avLst/>
          </a:prstGeom>
          <a:solidFill>
            <a:srgbClr val="30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8952" y="1453895"/>
            <a:ext cx="31912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591E6"/>
                </a:solidFill>
                <a:latin typeface="Aptos"/>
              </a:rPr>
              <a:t>DEEPEN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" y="1856231"/>
            <a:ext cx="3191256" cy="1216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Investigate the strongest Week 5 patterns, especially booking lead time, previous no-show history and reminders.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43400" y="1325880"/>
            <a:ext cx="3520440" cy="1874519"/>
          </a:xfrm>
          <a:prstGeom prst="roundRect">
            <a:avLst/>
          </a:prstGeom>
          <a:solidFill>
            <a:srgbClr val="30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07992" y="1453895"/>
            <a:ext cx="31912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AB2AA"/>
                </a:solidFill>
                <a:latin typeface="Aptos"/>
              </a:rPr>
              <a:t>VALIDATE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07992" y="1856231"/>
            <a:ext cx="3191256" cy="1216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Recheck the core appointment KPIs and assess whether Week 5 conclusions remain meaningful.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1325880"/>
            <a:ext cx="3520440" cy="1874519"/>
          </a:xfrm>
          <a:prstGeom prst="roundRect">
            <a:avLst/>
          </a:prstGeom>
          <a:solidFill>
            <a:srgbClr val="30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57031" y="1453895"/>
            <a:ext cx="31912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17A3A"/>
                </a:solidFill>
                <a:latin typeface="Aptos"/>
              </a:rPr>
              <a:t>IMPROVE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7031" y="1856231"/>
            <a:ext cx="3191256" cy="1216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Upgrade the Power BI dashboard into a more focused analytical and decision-support view.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468880" y="3520440"/>
            <a:ext cx="3520440" cy="1874519"/>
          </a:xfrm>
          <a:prstGeom prst="roundRect">
            <a:avLst/>
          </a:prstGeom>
          <a:solidFill>
            <a:srgbClr val="30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633472" y="3648456"/>
            <a:ext cx="31912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AB2AA"/>
                </a:solidFill>
                <a:latin typeface="Aptos"/>
              </a:rPr>
              <a:t>INTEGRATE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33472" y="4050791"/>
            <a:ext cx="3191256" cy="1216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Use Data Science feedback and provide analytical findings relevant to predictive modelling.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3520440"/>
            <a:ext cx="3520440" cy="1874519"/>
          </a:xfrm>
          <a:prstGeom prst="roundRect">
            <a:avLst/>
          </a:prstGeom>
          <a:solidFill>
            <a:srgbClr val="30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82512" y="3648456"/>
            <a:ext cx="31912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591E6"/>
                </a:solidFill>
                <a:latin typeface="Aptos"/>
              </a:rPr>
              <a:t>PREPARE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4050791"/>
            <a:ext cx="3191256" cy="1216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Document limitations, decisions and requirements for Week 7 testing.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69AA4"/>
                </a:solidFill>
                <a:latin typeface="Aptos"/>
              </a:rPr>
              <a:t>HealthConnect | Week 6 Project Summary  •  2</a:t>
            </a:r>
          </a:p>
        </p:txBody>
      </p:sp>
    </p:spTree>
    <p:extLst>
      <p:ext uri="{BB962C8B-B14F-4D97-AF65-F5344CB8AC3E}">
        <p14:creationId xmlns:p14="http://schemas.microsoft.com/office/powerpoint/2010/main" val="2409934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-1387738"/>
            <a:ext cx="12192000" cy="8245737"/>
          </a:xfrm>
          <a:prstGeom prst="rect">
            <a:avLst/>
          </a:prstGeom>
          <a:solidFill>
            <a:srgbClr val="161D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591E6"/>
                </a:solidFill>
                <a:latin typeface="Aptos"/>
              </a:rPr>
              <a:t>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ptos"/>
              </a:rPr>
              <a:t>What I Completed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" y="749808"/>
            <a:ext cx="10424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EC3CD"/>
                </a:solidFill>
                <a:latin typeface="Aptos"/>
              </a:rPr>
              <a:t>Advanced analysis, KPI validation and dashboard development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94360" y="1234440"/>
            <a:ext cx="3520440" cy="1965960"/>
          </a:xfrm>
          <a:prstGeom prst="roundRect">
            <a:avLst/>
          </a:prstGeom>
          <a:solidFill>
            <a:srgbClr val="30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58952" y="1362456"/>
            <a:ext cx="31912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591E6"/>
                </a:solidFill>
                <a:latin typeface="Aptos"/>
              </a:rPr>
              <a:t>ADVANCED ANALYSIS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8952" y="1764792"/>
            <a:ext cx="3191256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Investigated booking lead time, previous no-show history, reminder status/channel, appointment type, age group and appointment day.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43400" y="1234440"/>
            <a:ext cx="3520440" cy="1965960"/>
          </a:xfrm>
          <a:prstGeom prst="roundRect">
            <a:avLst/>
          </a:prstGeom>
          <a:solidFill>
            <a:srgbClr val="30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507992" y="1362456"/>
            <a:ext cx="31912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AB2AA"/>
                </a:solidFill>
                <a:latin typeface="Aptos"/>
              </a:rPr>
              <a:t>KPI VALIDATION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07992" y="1764792"/>
            <a:ext cx="3191256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Validated the three core Week 5 outcome KPIs: 48.46% no-show, 46.28% attendance and 5.26% cancellation.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92440" y="1234440"/>
            <a:ext cx="3520440" cy="1965960"/>
          </a:xfrm>
          <a:prstGeom prst="roundRect">
            <a:avLst/>
          </a:prstGeom>
          <a:solidFill>
            <a:srgbClr val="30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257031" y="1362456"/>
            <a:ext cx="31912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17A3A"/>
                </a:solidFill>
                <a:latin typeface="Aptos"/>
              </a:rPr>
              <a:t>DASHBOARD UPDATE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57031" y="1764792"/>
            <a:ext cx="3191256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Added deeper views of lead time, previous no-shows, reminders, appointment type and distance, plus clearer insights.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188720" y="3657600"/>
            <a:ext cx="9784080" cy="1417320"/>
          </a:xfrm>
          <a:prstGeom prst="roundRect">
            <a:avLst/>
          </a:prstGeom>
          <a:solidFill>
            <a:srgbClr val="3D4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463040" y="38862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17A3A"/>
                </a:solidFill>
                <a:latin typeface="Aptos"/>
              </a:rPr>
              <a:t>ANALYTICAL PRINCIPLE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63040" y="42976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The analysis identifies patterns and associations. An observed relationship does not establish causation.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69AA4"/>
                </a:solidFill>
                <a:latin typeface="Aptos"/>
              </a:rPr>
              <a:t>HealthConnect | Week 6 Project Summary  •  3</a:t>
            </a:r>
          </a:p>
        </p:txBody>
      </p:sp>
    </p:spTree>
    <p:extLst>
      <p:ext uri="{BB962C8B-B14F-4D97-AF65-F5344CB8AC3E}">
        <p14:creationId xmlns:p14="http://schemas.microsoft.com/office/powerpoint/2010/main" val="2092141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-1387738"/>
            <a:ext cx="12192000" cy="8245737"/>
          </a:xfrm>
          <a:prstGeom prst="rect">
            <a:avLst/>
          </a:prstGeom>
          <a:solidFill>
            <a:srgbClr val="161D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591E6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ptos"/>
              </a:rPr>
              <a:t>What Improved from Week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749808"/>
            <a:ext cx="10424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EC3CD"/>
                </a:solidFill>
                <a:latin typeface="Aptos"/>
              </a:rPr>
              <a:t>From descriptive reporting to advanced decision support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5303520" cy="1828800"/>
          </a:xfrm>
          <a:prstGeom prst="roundRect">
            <a:avLst/>
          </a:prstGeom>
          <a:solidFill>
            <a:srgbClr val="30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362456"/>
            <a:ext cx="49743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591E6"/>
                </a:solidFill>
                <a:latin typeface="Aptos"/>
              </a:rPr>
              <a:t>WEEK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764792"/>
            <a:ext cx="4974336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Initial exploratory analysis
• Overall appointment outcomes
• Basic segmentation
• Initial KPI development
• Initial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5303520" cy="1828800"/>
          </a:xfrm>
          <a:prstGeom prst="roundRect">
            <a:avLst/>
          </a:prstGeom>
          <a:solidFill>
            <a:srgbClr val="30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36792" y="1362456"/>
            <a:ext cx="49743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AB2AA"/>
                </a:solidFill>
                <a:latin typeface="Aptos"/>
              </a:rPr>
              <a:t>WEEK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1764792"/>
            <a:ext cx="4974336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Deeper investigation
• Lead-time patterns
• Previous no-show history
• Reminder differences
• Appointment-type and distance views
• Clearer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5204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17A3A"/>
                </a:solidFill>
                <a:latin typeface="Aptos"/>
              </a:rPr>
              <a:t>THE PROGRESSION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88620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ptos"/>
              </a:rPr>
              <a:t>Describe → Investigate → Validate → Translate into 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800600"/>
            <a:ext cx="10789920" cy="731520"/>
          </a:xfrm>
          <a:prstGeom prst="roundRect">
            <a:avLst/>
          </a:prstGeom>
          <a:solidFill>
            <a:srgbClr val="3D4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010912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EC3CD"/>
                </a:solidFill>
                <a:latin typeface="Aptos"/>
              </a:rPr>
              <a:t>The dashboard now helps stakeholders explore which segments show higher no-show patterns and where further investigation may be most valuable.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69AA4"/>
                </a:solidFill>
                <a:latin typeface="Aptos"/>
              </a:rPr>
              <a:t>HealthConnect | Week 6 Project Summary  •  4</a:t>
            </a:r>
          </a:p>
        </p:txBody>
      </p:sp>
    </p:spTree>
    <p:extLst>
      <p:ext uri="{BB962C8B-B14F-4D97-AF65-F5344CB8AC3E}">
        <p14:creationId xmlns:p14="http://schemas.microsoft.com/office/powerpoint/2010/main" val="2013950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-1387738"/>
            <a:ext cx="12192000" cy="8245737"/>
          </a:xfrm>
          <a:prstGeom prst="rect">
            <a:avLst/>
          </a:prstGeom>
          <a:solidFill>
            <a:srgbClr val="161D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591E6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ptos"/>
              </a:rPr>
              <a:t>Cross-Track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749808"/>
            <a:ext cx="10424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EC3CD"/>
                </a:solidFill>
                <a:latin typeface="Aptos"/>
              </a:rPr>
              <a:t>Data Analytics ↔ Data Science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3383280" cy="1828800"/>
          </a:xfrm>
          <a:prstGeom prst="roundRect">
            <a:avLst/>
          </a:prstGeom>
          <a:solidFill>
            <a:srgbClr val="30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362456"/>
            <a:ext cx="3054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AB2AA"/>
                </a:solidFill>
                <a:latin typeface="Aptos"/>
              </a:rPr>
              <a:t>RECEIVED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671226"/>
            <a:ext cx="3054096" cy="13849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odel improvement findings from comparing </a:t>
            </a:r>
            <a:r>
              <a:rPr lang="en-US" sz="12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Logistic Regression, Random Forest and Gradient Boosting</a:t>
            </a:r>
            <a:r>
              <a:rPr lang="en-US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Gradient Boosting produced the strongest overall performance, with approximately </a:t>
            </a:r>
            <a:r>
              <a:rPr lang="en-US" sz="12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65% accuracy, 65% no-show recall, 65% F1-score and 0.68 ROC-AUC</a:t>
            </a:r>
            <a:endParaRPr sz="1200" b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89120" y="1234440"/>
            <a:ext cx="3383280" cy="1828800"/>
          </a:xfrm>
          <a:prstGeom prst="roundRect">
            <a:avLst/>
          </a:prstGeom>
          <a:solidFill>
            <a:srgbClr val="30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362456"/>
            <a:ext cx="3054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591E6"/>
                </a:solidFill>
                <a:latin typeface="Aptos"/>
              </a:rPr>
              <a:t>PROVIDED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764792"/>
            <a:ext cx="3054096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Findings on booking lead time, previous no-show history, reminder status and reminder patterns by appointment type</a:t>
            </a:r>
            <a:endParaRPr sz="1400" b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183879" y="1234440"/>
            <a:ext cx="3383280" cy="1828800"/>
          </a:xfrm>
          <a:prstGeom prst="roundRect">
            <a:avLst/>
          </a:prstGeom>
          <a:solidFill>
            <a:srgbClr val="30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48471" y="1362456"/>
            <a:ext cx="3054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17A3A"/>
                </a:solidFill>
                <a:latin typeface="Aptos"/>
              </a:rPr>
              <a:t>INTEGRATED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1" y="1764792"/>
            <a:ext cx="3054096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Comp</a:t>
            </a:r>
            <a:r>
              <a:rPr lang="en-US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ared analytical findings with model results and used them to identify/</a:t>
            </a:r>
            <a:r>
              <a:rPr lang="en-US" sz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prioritise</a:t>
            </a:r>
            <a:r>
              <a:rPr lang="en-US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candidate predictive features and refine dashboard interpretation</a:t>
            </a:r>
            <a:endParaRPr sz="1200" b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188720" y="3657600"/>
            <a:ext cx="9784080" cy="1463040"/>
          </a:xfrm>
          <a:prstGeom prst="roundRect">
            <a:avLst/>
          </a:prstGeom>
          <a:solidFill>
            <a:srgbClr val="3D4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63040" y="391363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17A3A"/>
                </a:solidFill>
                <a:latin typeface="Aptos"/>
              </a:rPr>
              <a:t>WHAT CHANGED?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315968"/>
            <a:ext cx="905256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Booking lead time and previous no-show history were strengthened as priority variables for further predictive investigation and decision support; dashboard/recommendations were refined</a:t>
            </a:r>
            <a:endParaRPr sz="17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69AA4"/>
                </a:solidFill>
                <a:latin typeface="Aptos"/>
              </a:rPr>
              <a:t>HealthConnect | Week 6 Project Summary  •  5</a:t>
            </a:r>
          </a:p>
        </p:txBody>
      </p:sp>
    </p:spTree>
    <p:extLst>
      <p:ext uri="{BB962C8B-B14F-4D97-AF65-F5344CB8AC3E}">
        <p14:creationId xmlns:p14="http://schemas.microsoft.com/office/powerpoint/2010/main" val="57949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-1387738"/>
            <a:ext cx="12192000" cy="8245737"/>
          </a:xfrm>
          <a:prstGeom prst="rect">
            <a:avLst/>
          </a:prstGeom>
          <a:solidFill>
            <a:srgbClr val="161D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591E6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ptos"/>
              </a:rPr>
              <a:t>Key Findings &amp; Development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749808"/>
            <a:ext cx="10424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EC3CD"/>
                </a:solidFill>
                <a:latin typeface="Aptos"/>
              </a:rPr>
              <a:t>Evidence carried forward from the Week 6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3474720" cy="1737360"/>
          </a:xfrm>
          <a:prstGeom prst="roundRect">
            <a:avLst/>
          </a:prstGeom>
          <a:solidFill>
            <a:srgbClr val="30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362456"/>
            <a:ext cx="31455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17A3A"/>
                </a:solidFill>
                <a:latin typeface="Aptos"/>
              </a:rPr>
              <a:t>NO-SHOW BURDEN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764792"/>
            <a:ext cx="3145536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Aptos"/>
              </a:rPr>
              <a:t>No-shows remained the largest outcome: 48.46%.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34440"/>
            <a:ext cx="3474720" cy="1737360"/>
          </a:xfrm>
          <a:prstGeom prst="roundRect">
            <a:avLst/>
          </a:prstGeom>
          <a:solidFill>
            <a:srgbClr val="30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07992" y="1362456"/>
            <a:ext cx="31455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591E6"/>
                </a:solidFill>
                <a:latin typeface="Aptos"/>
              </a:rPr>
              <a:t>BOOKING LEAD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764792"/>
            <a:ext cx="3145536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Aptos"/>
              </a:rPr>
              <a:t>Attendance decreased as booking lead days increased in this dataset.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234440"/>
            <a:ext cx="3474720" cy="1737360"/>
          </a:xfrm>
          <a:prstGeom prst="roundRect">
            <a:avLst/>
          </a:prstGeom>
          <a:solidFill>
            <a:srgbClr val="30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57031" y="1362456"/>
            <a:ext cx="31455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17A3A"/>
                </a:solidFill>
                <a:latin typeface="Aptos"/>
              </a:rPr>
              <a:t>PREVIOUS NO-SHOWS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1764792"/>
            <a:ext cx="3145536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Aptos"/>
              </a:rPr>
              <a:t>Higher previous no-show history was associated with higher subsequent no-show rates.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91840"/>
            <a:ext cx="3474720" cy="1737360"/>
          </a:xfrm>
          <a:prstGeom prst="roundRect">
            <a:avLst/>
          </a:prstGeom>
          <a:solidFill>
            <a:srgbClr val="30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3419856"/>
            <a:ext cx="31455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AB2AA"/>
                </a:solidFill>
                <a:latin typeface="Aptos"/>
              </a:rPr>
              <a:t>REMINDERS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3822191"/>
            <a:ext cx="3145536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Aptos"/>
              </a:rPr>
              <a:t>Attendance differed by reminder status and channel; WhatsApp showed the highest attendance pattern among channels examined.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291840"/>
            <a:ext cx="3474720" cy="1737360"/>
          </a:xfrm>
          <a:prstGeom prst="roundRect">
            <a:avLst/>
          </a:prstGeom>
          <a:solidFill>
            <a:srgbClr val="30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07992" y="3419856"/>
            <a:ext cx="31455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591E6"/>
                </a:solidFill>
                <a:latin typeface="Aptos"/>
              </a:rPr>
              <a:t>APPOINTMENT 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3822191"/>
            <a:ext cx="3145536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Aptos"/>
              </a:rPr>
              <a:t>Follow-up appointments showed a higher attendance pattern than general consultation.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3291840"/>
            <a:ext cx="3474720" cy="1737360"/>
          </a:xfrm>
          <a:prstGeom prst="roundRect">
            <a:avLst/>
          </a:prstGeom>
          <a:solidFill>
            <a:srgbClr val="30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57031" y="3419856"/>
            <a:ext cx="31455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969AA4"/>
                </a:solidFill>
                <a:latin typeface="Aptos"/>
              </a:rPr>
              <a:t>AGE &amp; 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1" y="3822191"/>
            <a:ext cx="3145536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Aptos"/>
              </a:rPr>
              <a:t>Age and appointment day did not show strong overall patterns in the analysis.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486400"/>
            <a:ext cx="10789920" cy="594360"/>
          </a:xfrm>
          <a:prstGeom prst="roundRect">
            <a:avLst/>
          </a:prstGeom>
          <a:solidFill>
            <a:srgbClr val="3D4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5650992"/>
            <a:ext cx="10332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EC3CD"/>
                </a:solidFill>
                <a:latin typeface="Aptos"/>
              </a:rPr>
              <a:t>Interpretation: these are observed patterns in the dataset, not causal effects.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69AA4"/>
                </a:solidFill>
                <a:latin typeface="Aptos"/>
              </a:rPr>
              <a:t>HealthConnect | Week 6 Project Summary  •  6</a:t>
            </a:r>
          </a:p>
        </p:txBody>
      </p:sp>
    </p:spTree>
    <p:extLst>
      <p:ext uri="{BB962C8B-B14F-4D97-AF65-F5344CB8AC3E}">
        <p14:creationId xmlns:p14="http://schemas.microsoft.com/office/powerpoint/2010/main" val="19469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-1387738"/>
            <a:ext cx="12192000" cy="8245737"/>
          </a:xfrm>
          <a:prstGeom prst="rect">
            <a:avLst/>
          </a:prstGeom>
          <a:solidFill>
            <a:srgbClr val="161D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591E6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>
                <a:solidFill>
                  <a:srgbClr val="F5F7FA"/>
                </a:solidFill>
                <a:latin typeface="Aptos"/>
              </a:rPr>
              <a:t>Dashboard / </a:t>
            </a:r>
            <a:r>
              <a:rPr sz="2500" b="1" dirty="0" err="1">
                <a:solidFill>
                  <a:srgbClr val="F5F7FA"/>
                </a:solidFill>
                <a:latin typeface="Aptos"/>
              </a:rPr>
              <a:t>Visualisation</a:t>
            </a:r>
            <a:endParaRPr sz="2500" b="1" dirty="0">
              <a:solidFill>
                <a:srgbClr val="F5F7FA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" y="749808"/>
            <a:ext cx="10424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EC3CD"/>
                </a:solidFill>
                <a:latin typeface="Aptos"/>
              </a:rPr>
              <a:t>Updated Power BI decision-support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69AA4"/>
                </a:solidFill>
                <a:latin typeface="Aptos"/>
              </a:rPr>
              <a:t>HealthConnect | Week 6 Project Summary  •  7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641" y="1011219"/>
            <a:ext cx="10951285" cy="516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153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-1387738"/>
            <a:ext cx="12192000" cy="8245737"/>
          </a:xfrm>
          <a:prstGeom prst="rect">
            <a:avLst/>
          </a:prstGeom>
          <a:solidFill>
            <a:srgbClr val="161D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591E6"/>
                </a:solidFill>
                <a:latin typeface="Apto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ptos"/>
              </a:rPr>
              <a:t>Recommendations, Challenges &amp;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749808"/>
            <a:ext cx="10424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EC3CD"/>
                </a:solidFill>
                <a:latin typeface="Aptos"/>
              </a:rPr>
              <a:t>Responsible actions based on current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5303520" cy="4480560"/>
          </a:xfrm>
          <a:prstGeom prst="roundRect">
            <a:avLst/>
          </a:prstGeom>
          <a:solidFill>
            <a:srgbClr val="30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362456"/>
            <a:ext cx="49743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AB2AA"/>
                </a:solidFill>
                <a:latin typeface="Aptos"/>
              </a:rPr>
              <a:t>RECOMMENDED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764792"/>
            <a:ext cx="4974336" cy="3822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1. Prioritise no-show reduction.
2. Review reminder coverage and channel performance.
3. Consider targeted follow-up for repeated no-show patterns.
4. Investigate booking lead-time patterns.
5. Improve completeness of distance and waiting-time data.
6. Continue monitoring attendance, no-show and cancellation KPIs.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5303520" cy="2057400"/>
          </a:xfrm>
          <a:prstGeom prst="roundRect">
            <a:avLst/>
          </a:prstGeom>
          <a:solidFill>
            <a:srgbClr val="30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36792" y="1362456"/>
            <a:ext cx="49743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17A3A"/>
                </a:solidFill>
                <a:latin typeface="Aptos"/>
              </a:rPr>
              <a:t>CHALLENGES / REMAINING ISSUES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1764792"/>
            <a:ext cx="4974336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• Missing distance and waiting-time values.
• Reasons for missed appointments are not captured.
• Some relationships need further validation.
• Risk of overinterpreting associations.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520440"/>
            <a:ext cx="5303520" cy="2194560"/>
          </a:xfrm>
          <a:prstGeom prst="roundRect">
            <a:avLst/>
          </a:prstGeom>
          <a:solidFill>
            <a:srgbClr val="30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36792" y="3648456"/>
            <a:ext cx="49743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591E6"/>
                </a:solidFill>
                <a:latin typeface="Aptos"/>
              </a:rPr>
              <a:t>IMPORTANT DECISIONS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4050791"/>
            <a:ext cx="4974336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• Retain the validated core KPIs.
• Focus deeper analysis on high-value patterns.
• Use association-based language.
• Provide relevant findings to Data Science.
• Improve rather than rebuild the Week 5 dashboard.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69AA4"/>
                </a:solidFill>
                <a:latin typeface="Aptos"/>
              </a:rPr>
              <a:t>HealthConnect | Week 6 Project Summary  •  8</a:t>
            </a:r>
          </a:p>
        </p:txBody>
      </p:sp>
    </p:spTree>
    <p:extLst>
      <p:ext uri="{BB962C8B-B14F-4D97-AF65-F5344CB8AC3E}">
        <p14:creationId xmlns:p14="http://schemas.microsoft.com/office/powerpoint/2010/main" val="2058147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-1387738"/>
            <a:ext cx="12192000" cy="8245737"/>
          </a:xfrm>
          <a:prstGeom prst="rect">
            <a:avLst/>
          </a:prstGeom>
          <a:solidFill>
            <a:srgbClr val="161D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591E6"/>
                </a:solidFill>
                <a:latin typeface="Aptos"/>
              </a:rPr>
              <a:t>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ptos"/>
              </a:rPr>
              <a:t>Contribution to HealthConnect &amp; Week 7 Focus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749808"/>
            <a:ext cx="10424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EC3CD"/>
                </a:solidFill>
                <a:latin typeface="Aptos"/>
              </a:rPr>
              <a:t>Preparing the analysis for broader testing and refinement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234440"/>
            <a:ext cx="5303520" cy="3611880"/>
          </a:xfrm>
          <a:prstGeom prst="roundRect">
            <a:avLst/>
          </a:prstGeom>
          <a:solidFill>
            <a:srgbClr val="30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1362456"/>
            <a:ext cx="49743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AB2AA"/>
                </a:solidFill>
                <a:latin typeface="Aptos"/>
              </a:rPr>
              <a:t>MY CONTRIBUTION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1764792"/>
            <a:ext cx="4974336" cy="2953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The Week 6 work advances HealthConnect from descriptive appointment analysis toward evidence-based decision support.
It provides validated KPIs, deeper attendance/no-show patterns, an improved Power BI dashboard and analytical inputs for predictive modelling.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1234440"/>
            <a:ext cx="5303520" cy="3611880"/>
          </a:xfrm>
          <a:prstGeom prst="roundRect">
            <a:avLst/>
          </a:prstGeom>
          <a:solidFill>
            <a:srgbClr val="30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36792" y="1362456"/>
            <a:ext cx="49743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591E6"/>
                </a:solidFill>
                <a:latin typeface="Aptos"/>
              </a:rPr>
              <a:t>WEEK 7 ANALYTICAL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1764792"/>
            <a:ext cx="4974336" cy="2953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5F7FA"/>
                </a:solidFill>
                <a:latin typeface="Aptos"/>
              </a:rPr>
              <a:t>• Validate key relationships using appropriate methods.
• Test dashboard calculations, filters and interactions.
• Review missing-data impact.
• Check stability of previous no-show patterns.
• Further evaluate reminder patterns.
• Confirm analytical inputs are suitable for Data Science.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166360"/>
            <a:ext cx="10789920" cy="731520"/>
          </a:xfrm>
          <a:prstGeom prst="roundRect">
            <a:avLst/>
          </a:prstGeom>
          <a:solidFill>
            <a:srgbClr val="3D4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5376672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Aptos"/>
              </a:rPr>
              <a:t>Week 6 outcome: Improve → Integrate → Validate → Prepare for Testing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69AA4"/>
                </a:solidFill>
                <a:latin typeface="Aptos"/>
              </a:rPr>
              <a:t>HealthConnect | Week 6 Project Summary  •  9</a:t>
            </a:r>
          </a:p>
        </p:txBody>
      </p:sp>
    </p:spTree>
    <p:extLst>
      <p:ext uri="{BB962C8B-B14F-4D97-AF65-F5344CB8AC3E}">
        <p14:creationId xmlns:p14="http://schemas.microsoft.com/office/powerpoint/2010/main" val="1474559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-1387738"/>
            <a:ext cx="12192000" cy="8245737"/>
          </a:xfrm>
          <a:prstGeom prst="rect">
            <a:avLst/>
          </a:prstGeom>
          <a:solidFill>
            <a:srgbClr val="161D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591E6"/>
                </a:solidFill>
                <a:latin typeface="Apto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ptos"/>
              </a:rPr>
              <a:t>Week 6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749808"/>
            <a:ext cx="10424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EC3CD"/>
                </a:solidFill>
                <a:latin typeface="Aptos"/>
              </a:rPr>
              <a:t>A concise summary of the required project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AB2AA"/>
                </a:solidFill>
                <a:latin typeface="Aptos"/>
              </a:rPr>
              <a:t>PLANNED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143000"/>
            <a:ext cx="9144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Deepen findings, validate KPIs, improve dashboard, integrate with Data Science.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618488"/>
            <a:ext cx="10515600" cy="9144"/>
          </a:xfrm>
          <a:prstGeom prst="rect">
            <a:avLst/>
          </a:prstGeom>
          <a:solidFill>
            <a:srgbClr val="3D4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801368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AB2AA"/>
                </a:solidFill>
                <a:latin typeface="Aptos"/>
              </a:rPr>
              <a:t>COMPLETED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1801368"/>
            <a:ext cx="9144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Advanced analysis, KPI validation, dashboard update and cross-track integration.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276856"/>
            <a:ext cx="10515600" cy="9144"/>
          </a:xfrm>
          <a:prstGeom prst="rect">
            <a:avLst/>
          </a:prstGeom>
          <a:solidFill>
            <a:srgbClr val="3D4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459736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AB2AA"/>
                </a:solidFill>
                <a:latin typeface="Aptos"/>
              </a:rPr>
              <a:t>INTEGRATED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2459736"/>
            <a:ext cx="9144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Data Analytics findings connected to Data Science modelling considerations.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935224"/>
            <a:ext cx="10515600" cy="9144"/>
          </a:xfrm>
          <a:prstGeom prst="rect">
            <a:avLst/>
          </a:prstGeom>
          <a:solidFill>
            <a:srgbClr val="3D4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118104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AB2AA"/>
                </a:solidFill>
                <a:latin typeface="Aptos"/>
              </a:rPr>
              <a:t>CHANGED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118104"/>
            <a:ext cx="9144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Greater focus on lead time and previous no-show history for decision support.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593592"/>
            <a:ext cx="10515600" cy="9144"/>
          </a:xfrm>
          <a:prstGeom prst="rect">
            <a:avLst/>
          </a:prstGeom>
          <a:solidFill>
            <a:srgbClr val="3D4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776472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AB2AA"/>
                </a:solidFill>
                <a:latin typeface="Aptos"/>
              </a:rPr>
              <a:t>KEY 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3776472"/>
            <a:ext cx="9144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No-show remains the main business challenge; several patterns warrant further validation.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251960"/>
            <a:ext cx="10515600" cy="9144"/>
          </a:xfrm>
          <a:prstGeom prst="rect">
            <a:avLst/>
          </a:prstGeom>
          <a:solidFill>
            <a:srgbClr val="3D4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443484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AB2AA"/>
                </a:solidFill>
                <a:latin typeface="Aptos"/>
              </a:rPr>
              <a:t>REMAINING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434840"/>
            <a:ext cx="9144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Causality, missing variables and statistical validation remain limitations.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910327"/>
            <a:ext cx="10515600" cy="9144"/>
          </a:xfrm>
          <a:prstGeom prst="rect">
            <a:avLst/>
          </a:prstGeom>
          <a:solidFill>
            <a:srgbClr val="3D4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5093208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AB2AA"/>
                </a:solidFill>
                <a:latin typeface="Aptos"/>
              </a:rPr>
              <a:t>NEXT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5093208"/>
            <a:ext cx="9144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Week 7 testing, validation and refinement.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69AA4"/>
                </a:solidFill>
                <a:latin typeface="Aptos"/>
              </a:rPr>
              <a:t>HealthConnect | Week 6 Project Summary  •  10</a:t>
            </a:r>
          </a:p>
        </p:txBody>
      </p:sp>
    </p:spTree>
    <p:extLst>
      <p:ext uri="{BB962C8B-B14F-4D97-AF65-F5344CB8AC3E}">
        <p14:creationId xmlns:p14="http://schemas.microsoft.com/office/powerpoint/2010/main" val="1919370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998</Words>
  <Application>Microsoft Office PowerPoint</Application>
  <PresentationFormat>Widescreen</PresentationFormat>
  <Paragraphs>112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FGGH</dc:creator>
  <cp:lastModifiedBy>Admin</cp:lastModifiedBy>
  <cp:revision>5</cp:revision>
  <dcterms:created xsi:type="dcterms:W3CDTF">2026-09-11T13:48:58Z</dcterms:created>
  <dcterms:modified xsi:type="dcterms:W3CDTF">2026-09-13T16:30:23Z</dcterms:modified>
</cp:coreProperties>
</file>